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73" r:id="rId25"/>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102" y="171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  <Relationship Id="rId25" Type="http://schemas.openxmlformats.org/officeDocument/2006/relationships/slide" Target="slides/slide18.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l Patino" userId="5322d6817609624f" providerId="LiveId" clId="{A7307009-8731-4C3B-90C0-6024BF8F9F15}"/>
    <pc:docChg chg="custSel addSld modSld">
      <pc:chgData name="Saul Patino" userId="5322d6817609624f" providerId="LiveId" clId="{A7307009-8731-4C3B-90C0-6024BF8F9F15}" dt="2026-10-17T10:56:53.410" v="3" actId="22"/>
      <pc:docMkLst>
        <pc:docMk/>
      </pc:docMkLst>
      <pc:sldChg chg="addSp delSp new mod">
        <pc:chgData name="Saul Patino" userId="5322d6817609624f" providerId="LiveId" clId="{A7307009-8731-4C3B-90C0-6024BF8F9F15}" dt="2026-10-17T10:56:53.410" v="3" actId="22"/>
        <pc:sldMkLst>
          <pc:docMk/>
          <pc:sldMk cId="1392726676" sldId="272"/>
        </pc:sldMkLst>
        <pc:spChg chg="del">
          <ac:chgData name="Saul Patino" userId="5322d6817609624f" providerId="LiveId" clId="{A7307009-8731-4C3B-90C0-6024BF8F9F15}" dt="2026-10-17T10:56:49.911" v="1" actId="478"/>
          <ac:spMkLst>
            <pc:docMk/>
            <pc:sldMk cId="1392726676" sldId="272"/>
            <ac:spMk id="2" creationId="{64DB4A4C-4D48-8DCE-041F-86DE09A43188}"/>
          </ac:spMkLst>
        </pc:spChg>
        <pc:spChg chg="del">
          <ac:chgData name="Saul Patino" userId="5322d6817609624f" providerId="LiveId" clId="{A7307009-8731-4C3B-90C0-6024BF8F9F15}" dt="2026-10-17T10:56:51.204" v="2" actId="478"/>
          <ac:spMkLst>
            <pc:docMk/>
            <pc:sldMk cId="1392726676" sldId="272"/>
            <ac:spMk id="3" creationId="{DB7DAD90-936E-B55B-F37A-DA23269322C2}"/>
          </ac:spMkLst>
        </pc:spChg>
        <pc:picChg chg="add">
          <ac:chgData name="Saul Patino" userId="5322d6817609624f" providerId="LiveId" clId="{A7307009-8731-4C3B-90C0-6024BF8F9F15}" dt="2026-10-17T10:56:53.410" v="3" actId="22"/>
          <ac:picMkLst>
            <pc:docMk/>
            <pc:sldMk cId="1392726676" sldId="272"/>
            <ac:picMk id="5" creationId="{707E4C07-8D9B-E1BF-A45B-775BE80718A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1463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of the 3-minute hook] Good morning, Badgers! One rule for the next 45 minutes: I talk, you talk back. Deal? I'm going to tell you about a job that did not exist when your teachers were your age. Nobody had heard of it. Now it is one of the most in-demand jobs in the world. But first I need to find out something about YOU. Everybody stand up. (Wait until everyone is standing, then advance.)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[1:00–3:00] Sit down ONLY if you have never done the thing I read. Read the six cards one at a time, slowly. Pause for laughs when nobody sits. Then: Look around. Almost everyone is still standing. Every one of those six things is artificial intelligence. You have been using AI since before breakfast. Now... sit down if you know what makes it actually work. (Everyone sits.) Perfect. That gap between USING AI and UNDERSTANDING AI is exactly where my job lives. So what is my job? Let's see what you think first.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[3:00–5:00, 2 min] Show ONLY the left card first if you can; otherwise cover it with your hand. Hands up if you think I sit in a dark room typing green code all day. Hands up if you think I fix the school Wi-Fi. Count both. Here is the truth. My title is Cloud and AI Architect. Most of my day is drawing plans, asking questions, and explaining things to people. I spend more time with a whiteboard marker than a keyboard. I work on a team; I almost never work alone. And no, I cannot fix your Wi-Fi. Ask the librarian. That word ARCHITECT is the key. Let me show you why.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[5:00–7:00, 2 min] PROP: hand the rolled-up blueprint to a volunteer from the front row. When somebody builds a school, a building architect draws the plan first: where the gym goes, where the exits are, where the electricity runs. They do not lay every brick. They make sure the whole thing fits together and does not fall down. I do the exact same thing, but my building is made of apps, data, and AI. I decide which pieces talk to each other, where the information is stored, and how to keep it safe. Ask the class: what happens if the architect forgets the exits? (Take one answer.) If I draw a bad plan, the app is slow, crashes, or leaks your information. If I draw a good plan, you never even notice it is there. The building my plans live in is called the cloud. Where do you think that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[7:00–10:00, 3 min] Vote with fingers: when you save a game, where is the save file? One finger: in the sky. Two: on your device. Three: in a building somewhere. Take the vote. Mostly three. The cloud is just other people's computers, thousands of them, in giant warehouses, and companies rent them by the second over the internet. Your game saves, your photos, the videos you stream, and the AI chatbots all live there. The cloud gives AI four things: the POWER to think fast, the STORAGE to remember, the SECURITY to keep stuff safe, and the CONNECTION so it works on your phone and your friend's phone at the same time. My job is choosing which buildings, which computers, and how they connect. It is like choosing which gym, which classrooms, and which hallways go where. The most exciting thing living in those buildings right now is AI. So let's get clear on what AI actually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[10:00–13:00, 3 min] Thumbs up if it is AI, thumbs down if not. A calculator? DOWN: it follows exact rules, it never learns. A map app that reroutes you around traffic? UP: it learned from millions of trips. A movie robot that has feelings? DOWN: that is a story. Autocorrect? UP: it learned from a huge pile of text. Here is the definition I want you to remember: AI is a program that learns patterns from examples instead of being told exact rules. It does not understand things the way you do. It is very good at guessing what usually comes next. That is it. That is the whole trick. And because it is guessing, it can guess wrong. Want to see how it guesses? You are about to become the AI.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[13:00–16:00, 3 min] Cover the lower lines with your hand or read them one at a time. When I read a sentence, shout the next word. Ready? Peanut butter and... (JELLY). Once upon a... (TIME). How did you know? Nobody taught you a rule. You have heard it a thousand times. That is EXACTLY how a chatbot works: it has read an enormous amount of writing and it predicts the most likely next word, then the next, then the next. Now: The Badgers are going to... (mixed: WIN, STATE, LUNCH). See? When the pattern is not clear, you all guess differently, and so does the AI. It picks the most COMMON answer, not the TRUE one. Last one: My favorite class is... (chaos). The AI has no idea what YOUR favorite class is. It will still answer confidently. Remember that. So where does the AI get all those examples? From something called training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[16:00–19:00, 3 min] Imagine I show you ten thousand photos labeled cat and ten thousand labeled dog. After a while you would get good at telling them apart, even for a cat you had never seen. You could not explain the rule; you would just KNOW. AI does the same thing with numbers instead of eyes. Show it enough examples and it finds the pattern. Three things to notice. One: if the examples are bad or one-sided, the AI learns bad patterns. If every dog photo was taken outside and every cat photo inside, it might decide outside means dog. Two: it can be confidently wrong, like this fluffy dog labeled cat. Three: the examples, the computers that crunch them, and the place the AI lives are all in the cloud, which is why my job and AI are connected. Ask: what is an example that would confuse a cat-vs-dog AI? Take two answers. Enough talking about it. Let's see a real one, fast.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[19:00–22:00, 3 min, hard stop] SETUP: Willkie Badger AI already open in a clean browser window at the address on this slide (or http://localhost:8000 after `make dev`). There is no Badger Bridge. I made it up. Predict: thumbs up if the AI will admit it does not know; thumbs down if it will invent something. Count. Click the dark 'Badger Test' button under the chat (the question is pre-loaded), then read the answer aloud. Click 'How I answered' under the answer: the class sees the AI open the school library first and find nothing about a bridge. Two outcomes, both teach the lesson. IF IT SAYS IT CANNOT FIND IT: That is a well-designed AI doing the right thing, admitting it does not know. I built it that way on purpose. But not every AI does this. IF IT INVENTS A STORY: It just made that up with total confidence. This is called a hallucination. It is not lying; it is predicting what a sentence about a historic bridge usually looks like. Either way: you now know the question to ask any AI. HOW DO YOU KNOW THAT? Phones: the QR code opens the same chatbot; it saves nothing and needs no login. NO INTERNET BACKUP: project the hidden screenshot you captured the night before and run the same vote. Say: the Wi-Fi is taking a nap, so I brought the AI's homework with me. If the page does not load in 60 seconds, switch to the screenshot without further comment.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[22:00–24:00, 2 min] PROP: four printed cards, shuffled. Who wants to put these in order? Let a volunteer arrange them on the board; the class corrects. The real order: ask, draw, test, explain, then repeat. Notice what is missing: type code for eight hours. Some days I write code. Most days I am talking to a doctor's office, a school, or a store, figuring out what they need, drawing how the cloud and AI pieces fit, testing it, and then explaining it in plain English. The explaining part is the hardest and the most important. If I cannot explain it to you, I cannot explain it to my customers. Because AI makes mistakes, my job includes making sure people use it safely. Your turn.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[24:00–28:00, 4 min] PROP: one red and one green index card per pair of students. Green card if you would trust the AI. Red card if you would check it or stop. Run all six fast, then discuss three. MEDICINE: Red. Always a person: a parent, a nurse, a doctor. ADDRESS: Red, and close the window. AI tools remember what you type and real people can read it. Never type your full name, address, school login, phone number, or anything about your friends. BOOK REPORT: Red, and not just because it is against the rules. If the AI writes it, your brain did not grow. Use AI to quiz yourself, explain a hard paragraph, or check your outline. Do not use it to skip the thinking. CAPITAL OF TEXAS: green-ish, but it costs you five seconds to check, and you would look silly if it said Dallas. Let me put those into four rules you can remember.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[28:00–30:00, 2 min] Read rules one through three. Then: everybody read rule four out loud with me. (Class reads in unison.) One more test you can run any time: ask an AI the same question two different ways and see if the answers match. If they do not, one of them is wrong, and the AI does not know which. So how does a Badger end up in a job like this? Easier than you think.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[30:00–33:00, 3 min] Raise your hand for your favorite subject: math? science? English? art? PE? Point at each group as you go. Math teaches you patterns; that is AI. Science teaches you to test ideas; that is how we find bugs. English teaches you to explain; that is half my job. Art teaches you to design; architects design. PE and sports teach strategy and teamwork. Every hand in this room is already on the path. Coding is one door into this field, and it is a great one, but it is not the only one. Some of the best people I work with started as writers, artists, or teachers. Right now your job is to stay curious, finish what you start, and get good at explaining things to other people. Which brings me to your mission, and you are doing it right now, in this room.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[33:00–37:00, 4 min] Your mission, right now: an AI wrote this paragraph about badgers. Three things in it are wrong. Two minutes with the person next to you. Find all three and be ready to say HOW you know. Go. (Walk the room for 2 minutes.) Then take answers. The three mistakes: badgers cannot fly; a badger's favorite food is not pizza (they eat small animals like rodents and insects); and nocturnal means active at NIGHT, not during the day. The true parts: setts, digging, long claws, and American badgers really do live across Texas. Notice how smooth it sounded. Polished writing is not the same as correct writing. You just did my job: you did not trust it, you checked it. Give out your prizes here or save them for trivia at the end.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[37:00–39:00, 2 min] Everybody say the takeaway with me. Lead the class through both lines twice, louder the second time. That is it. You now understand AI better than most adults. You know what my job is, you know the cloud is a building and not a cloud, and you know the one question to ask any AI: how do you know that? We have a few minutes. Questions first, then trivia.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[39:00–45:00, 6 min] Take student questions first; prepared answers are in section E of the plan doc (jobs, thinking, knows everything, cheating, pay: no number from memory, cite the current local figure you looked up). With whatever time remains, run trivia from section D, easy questions first so more students win. Alternate hands-up with a random pick (someone wearing blue) so the same three students do not win everything. Close on time: Thank you, Badgers. Stay curious, and go catch an AI being wrong. Leave this slide up as they exit. Close the chatbot window on your laptop before you unplug.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[22:00–23:00, 1 min; take it from the Ask Me Anything block] You just watched Badger AI answer. This is the plan I drew before anyone built it, the same way the building architect draws the gym and the exits. Point at the numbers, one sentence each. 1: that is you, typing on the chat page. 2: the rulebook, a small program whose rules are written in plain English, like 'always check the library first' and 'never guess'. 3: the brain, Google's Gemini model, which turns facts into friendly sentences. 4: the library, a saved copy of the school website; the AI may only use what it finds there, which is why it admitted it did not know about the bridge. 5: where it lives, a computer in a Google building that I rent by the second. 6: the helpers, cameras that record what happened and robots that rebuild the app when I change the plan. Every box is a decision an architect makes, and every arrow is a hallway I had to design. Nobody handed me this drawing. So what does a day of drawing plans actually look like? (Advance.)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641"/>
            <a:ext cx="10566400" cy="762000"/>
          </a:xfrm>
          <a:prstGeom prst="rect">
            <a:avLst/>
          </a:prstGeom>
          <a:noFill/>
          <a:ln/>
        </p:spPr>
        <p:txBody>
          <a:bodyPr wrap="square" lIns="0" tIns="0" rIns="0" bIns="0" rtlCol="0" anchor="t"/>
          <a:lstStyle>
            <a:lvl1pPr marL="0" indent="0" algn="l">
              <a:lnSpc>
                <a:spcPct val="115000"/>
              </a:lnSpc>
              <a:buNone/>
              <a:defRPr lang="en-US" sz="4800" dirty="0">
                <a:solidFill>
                  <a:srgbClr val="161616"/>
                </a:solidFill>
                <a:latin typeface="Oswald" pitchFamily="34" charset="0"/>
                <a:ea typeface="Oswald" pitchFamily="34" charset="-122"/>
                <a:cs typeface="Oswald" pitchFamily="34" charset="-120"/>
              </a:defRPr>
            </a:lvl1pPr>
          </a:lstStyle>
          <a:p>
            <a:pPr marL="0" indent="0" algn="l">
              <a:lnSpc>
                <a:spcPct val="115000"/>
              </a:lnSpc>
              <a:buNone/>
            </a:pPr>
            <a:endParaRPr lang="en-US" sz="4800" dirty="0"/>
          </a:p>
        </p:txBody>
      </p:sp>
      <p:sp>
        <p:nvSpPr>
          <p:cNvPr id="3" name="Text Placeholder 2"/>
          <p:cNvSpPr>
            <a:spLocks noGrp="1"/>
          </p:cNvSpPr>
          <p:nvPr>
            <p:ph type="body" idx="101"/>
          </p:nvPr>
        </p:nvSpPr>
        <p:spPr>
          <a:xfrm>
            <a:off x="812800" y="2382441"/>
            <a:ext cx="10566400" cy="3662759"/>
          </a:xfrm>
          <a:prstGeom prst="rect">
            <a:avLst/>
          </a:prstGeom>
          <a:noFill/>
          <a:ln/>
        </p:spPr>
        <p:txBody>
          <a:bodyPr wrap="square" lIns="0" tIns="0" rIns="0" bIns="0" rtlCol="0" anchor="t"/>
          <a:lstStyle>
            <a:lvl1pPr marL="0" indent="0" algn="l">
              <a:lnSpc>
                <a:spcPct val="140000"/>
              </a:lnSpc>
              <a:buNone/>
              <a:defRPr lang="en-US" sz="1600" dirty="0">
                <a:solidFill>
                  <a:srgbClr val="161616"/>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641"/>
            <a:ext cx="10566400" cy="762000"/>
          </a:xfrm>
          <a:prstGeom prst="rect">
            <a:avLst/>
          </a:prstGeom>
          <a:noFill/>
          <a:ln/>
        </p:spPr>
        <p:txBody>
          <a:bodyPr wrap="square" lIns="0" tIns="0" rIns="0" bIns="0" rtlCol="0" anchor="t"/>
          <a:lstStyle>
            <a:lvl1pPr marL="0" indent="0" algn="l">
              <a:lnSpc>
                <a:spcPct val="115000"/>
              </a:lnSpc>
              <a:buNone/>
              <a:defRPr lang="en-US" sz="4800" dirty="0">
                <a:solidFill>
                  <a:srgbClr val="161616"/>
                </a:solidFill>
                <a:latin typeface="Oswald" pitchFamily="34" charset="0"/>
                <a:ea typeface="Oswald" pitchFamily="34" charset="-122"/>
                <a:cs typeface="Oswald" pitchFamily="34" charset="-120"/>
              </a:defRPr>
            </a:lvl1pPr>
          </a:lstStyle>
          <a:p>
            <a:pPr marL="0" indent="0" algn="l">
              <a:lnSpc>
                <a:spcPct val="115000"/>
              </a:lnSpc>
              <a:buNone/>
            </a:pPr>
            <a:endParaRPr lang="en-US" sz="4800" dirty="0"/>
          </a:p>
        </p:txBody>
      </p:sp>
      <p:sp>
        <p:nvSpPr>
          <p:cNvPr id="3" name="Text Placeholder 2"/>
          <p:cNvSpPr>
            <a:spLocks noGrp="1"/>
          </p:cNvSpPr>
          <p:nvPr>
            <p:ph type="body" idx="101"/>
          </p:nvPr>
        </p:nvSpPr>
        <p:spPr>
          <a:xfrm>
            <a:off x="812800" y="2382441"/>
            <a:ext cx="10566400" cy="3662759"/>
          </a:xfrm>
          <a:prstGeom prst="rect">
            <a:avLst/>
          </a:prstGeom>
          <a:noFill/>
          <a:ln/>
        </p:spPr>
        <p:txBody>
          <a:bodyPr wrap="square" lIns="0" tIns="0" rIns="0" bIns="0" rtlCol="0" anchor="t"/>
          <a:lstStyle>
            <a:lvl1pPr marL="0" indent="0" algn="l">
              <a:lnSpc>
                <a:spcPct val="140000"/>
              </a:lnSpc>
              <a:buNone/>
              <a:defRPr lang="en-US" sz="1600" dirty="0">
                <a:solidFill>
                  <a:srgbClr val="161616"/>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 Id="rId5"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 Id="rId5" Type="http://schemas.openxmlformats.org/officeDocument/2006/relationships/image" Target="../media/image42.png"/><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a:effectLst/>
      </p:bgPr>
    </p:bg>
    <p:spTree>
      <p:nvGrpSpPr>
        <p:cNvPr id="1" name=""/>
        <p:cNvGrpSpPr/>
        <p:nvPr/>
      </p:nvGrpSpPr>
      <p:grpSpPr>
        <a:xfrm>
          <a:off x="0" y="0"/>
          <a:ext cx="0" cy="0"/>
          <a:chOff x="0" y="0"/>
          <a:chExt cx="0" cy="0"/>
        </a:xfrm>
      </p:grpSpPr>
      <p:sp>
        <p:nvSpPr>
          <p:cNvPr id="2" name="Text 0"/>
          <p:cNvSpPr/>
          <p:nvPr/>
        </p:nvSpPr>
        <p:spPr>
          <a:xfrm>
            <a:off x="812800" y="989409"/>
            <a:ext cx="6802120" cy="52308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2ND ANNUAL COLLEGE &amp; CAREER DAY · SPONSORED BY PATHS</a:t>
            </a:r>
            <a:endParaRPr lang="en-US" sz="1400" dirty="0"/>
          </a:p>
        </p:txBody>
      </p:sp>
      <p:sp>
        <p:nvSpPr>
          <p:cNvPr id="3" name="Text 1"/>
          <p:cNvSpPr>
            <a:spLocks noGrp="1"/>
          </p:cNvSpPr>
          <p:nvPr>
            <p:ph type="title"/>
          </p:nvPr>
        </p:nvSpPr>
        <p:spPr>
          <a:xfrm>
            <a:off x="812800" y="1741091"/>
            <a:ext cx="6802120" cy="2540000"/>
          </a:xfrm>
          <a:prstGeom prst="rect">
            <a:avLst/>
          </a:prstGeom>
          <a:noFill/>
          <a:ln/>
        </p:spPr>
        <p:txBody>
          <a:bodyPr wrap="square" lIns="0" tIns="0" rIns="0" bIns="0" rtlCol="0" anchor="t">
            <a:normAutofit/>
          </a:bodyPr>
          <a:lstStyle/>
          <a:p>
            <a:pPr marL="0" indent="0" algn="l">
              <a:lnSpc>
                <a:spcPts val="6600"/>
              </a:lnSpc>
              <a:buNone/>
            </a:pPr>
            <a:r>
              <a:rPr lang="en-US" sz="6600" b="1" i="0" dirty="0">
                <a:solidFill>
                  <a:srgbClr val="F6F3EE"/>
                </a:solidFill>
                <a:latin typeface="Oswald" pitchFamily="34" charset="0"/>
                <a:ea typeface="Oswald" pitchFamily="34" charset="-122"/>
                <a:cs typeface="Oswald" pitchFamily="34" charset="-120"/>
              </a:rPr>
              <a:t>THE CAREER YOU'VE NEVER HEARD OF</a:t>
            </a:r>
            <a:endParaRPr lang="en-US" sz="6600" dirty="0"/>
          </a:p>
        </p:txBody>
      </p:sp>
      <p:sp>
        <p:nvSpPr>
          <p:cNvPr id="4" name="Text 2"/>
          <p:cNvSpPr/>
          <p:nvPr/>
        </p:nvSpPr>
        <p:spPr>
          <a:xfrm>
            <a:off x="812800" y="4509691"/>
            <a:ext cx="6802120"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D9D5CE"/>
                </a:solidFill>
                <a:latin typeface="Nunito Sans" pitchFamily="34" charset="0"/>
                <a:ea typeface="Nunito Sans" pitchFamily="34" charset="-122"/>
                <a:cs typeface="Nunito Sans" pitchFamily="34" charset="-120"/>
              </a:rPr>
              <a:t>I build the brains behind the apps.</a:t>
            </a:r>
            <a:endParaRPr lang="en-US" sz="2200" dirty="0"/>
          </a:p>
        </p:txBody>
      </p:sp>
      <p:sp>
        <p:nvSpPr>
          <p:cNvPr id="5" name="Text 3"/>
          <p:cNvSpPr/>
          <p:nvPr/>
        </p:nvSpPr>
        <p:spPr>
          <a:xfrm>
            <a:off x="812800" y="5380831"/>
            <a:ext cx="680212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9D5CE"/>
                </a:solidFill>
                <a:latin typeface="Nunito Sans" pitchFamily="34" charset="0"/>
                <a:ea typeface="Nunito Sans" pitchFamily="34" charset="-122"/>
                <a:cs typeface="Nunito Sans" pitchFamily="34" charset="-120"/>
              </a:rPr>
              <a:t>Saul Patino · Cloud &amp; AI Architect</a:t>
            </a:r>
            <a:endParaRPr lang="en-US" sz="1600" dirty="0"/>
          </a:p>
        </p:txBody>
      </p:sp>
      <p:pic>
        <p:nvPicPr>
          <p:cNvPr id="6" name="Image 0" descr="Willkie Badgers W logo"/>
          <p:cNvPicPr>
            <a:picLocks noChangeAspect="1"/>
          </p:cNvPicPr>
          <p:nvPr/>
        </p:nvPicPr>
        <p:blipFill>
          <a:blip r:embed="rId3"/>
          <a:srcRect t="-117" b="-117"/>
          <a:stretch/>
        </p:blipFill>
        <p:spPr>
          <a:xfrm>
            <a:off x="7823200" y="1612900"/>
            <a:ext cx="3556000" cy="3429000"/>
          </a:xfrm>
          <a:prstGeom prst="rect">
            <a:avLst/>
          </a:prstGeom>
        </p:spPr>
      </p:pic>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Middle School · Tuesday, October 20, 2026 · Topic 6: Cool Careers You've Never Heard Of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EVERYBODY STAND UP</a:t>
            </a:r>
            <a:endParaRPr lang="en-US" sz="1400" dirty="0"/>
          </a:p>
        </p:txBody>
      </p:sp>
      <p:sp>
        <p:nvSpPr>
          <p:cNvPr id="3" name="Text 1"/>
          <p:cNvSpPr>
            <a:spLocks noGrp="1"/>
          </p:cNvSpPr>
          <p:nvPr>
            <p:ph type="title"/>
          </p:nvPr>
        </p:nvSpPr>
        <p:spPr>
          <a:xfrm>
            <a:off x="812800" y="13664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SIT DOWN IF YOU HAVE NEVER…</a:t>
            </a:r>
            <a:endParaRPr lang="en-US" sz="4800" dirty="0"/>
          </a:p>
        </p:txBody>
      </p:sp>
      <p:sp>
        <p:nvSpPr>
          <p:cNvPr id="4" name="Shape 2"/>
          <p:cNvSpPr/>
          <p:nvPr/>
        </p:nvSpPr>
        <p:spPr>
          <a:xfrm>
            <a:off x="819150" y="2286000"/>
            <a:ext cx="3390900" cy="1325880"/>
          </a:xfrm>
          <a:prstGeom prst="roundRect">
            <a:avLst>
              <a:gd name="adj" fmla="val 12873"/>
            </a:avLst>
          </a:prstGeom>
          <a:solidFill>
            <a:srgbClr val="FFFFFF"/>
          </a:solidFill>
          <a:ln w="12700">
            <a:solidFill>
              <a:srgbClr val="E4DED5"/>
            </a:solidFill>
            <a:prstDash val="solid"/>
          </a:ln>
        </p:spPr>
        <p:txBody>
          <a:bodyPr/>
          <a:lstStyle/>
          <a:p>
            <a:endParaRPr lang="en-US"/>
          </a:p>
        </p:txBody>
      </p:sp>
      <p:pic>
        <p:nvPicPr>
          <p:cNvPr id="5" name="Image 0" descr="Chat"/>
          <p:cNvPicPr>
            <a:picLocks noChangeAspect="1"/>
          </p:cNvPicPr>
          <p:nvPr/>
        </p:nvPicPr>
        <p:blipFill>
          <a:blip r:embed="rId3"/>
          <a:srcRect l="-176" r="-176"/>
          <a:stretch/>
        </p:blipFill>
        <p:spPr>
          <a:xfrm>
            <a:off x="1028700" y="2745740"/>
            <a:ext cx="395089" cy="406400"/>
          </a:xfrm>
          <a:prstGeom prst="rect">
            <a:avLst/>
          </a:prstGeom>
        </p:spPr>
      </p:pic>
      <p:sp>
        <p:nvSpPr>
          <p:cNvPr id="6" name="Text 3"/>
          <p:cNvSpPr/>
          <p:nvPr/>
        </p:nvSpPr>
        <p:spPr>
          <a:xfrm>
            <a:off x="1576189" y="2689880"/>
            <a:ext cx="2497040"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asked a phone a question</a:t>
            </a:r>
            <a:endParaRPr lang="en-US" sz="1700" dirty="0"/>
          </a:p>
        </p:txBody>
      </p:sp>
      <p:sp>
        <p:nvSpPr>
          <p:cNvPr id="7" name="Shape 4"/>
          <p:cNvSpPr/>
          <p:nvPr/>
        </p:nvSpPr>
        <p:spPr>
          <a:xfrm>
            <a:off x="4400550" y="2286000"/>
            <a:ext cx="3390900" cy="1325880"/>
          </a:xfrm>
          <a:prstGeom prst="roundRect">
            <a:avLst>
              <a:gd name="adj" fmla="val 12873"/>
            </a:avLst>
          </a:prstGeom>
          <a:solidFill>
            <a:srgbClr val="FFFFFF"/>
          </a:solidFill>
          <a:ln w="12700">
            <a:solidFill>
              <a:srgbClr val="E4DED5"/>
            </a:solidFill>
            <a:prstDash val="solid"/>
          </a:ln>
        </p:spPr>
        <p:txBody>
          <a:bodyPr/>
          <a:lstStyle/>
          <a:p>
            <a:endParaRPr lang="en-US"/>
          </a:p>
        </p:txBody>
      </p:sp>
      <p:pic>
        <p:nvPicPr>
          <p:cNvPr id="8" name="Image 1" descr="Globe"/>
          <p:cNvPicPr>
            <a:picLocks noChangeAspect="1"/>
          </p:cNvPicPr>
          <p:nvPr/>
        </p:nvPicPr>
        <p:blipFill>
          <a:blip r:embed="rId4"/>
          <a:srcRect/>
          <a:stretch/>
        </p:blipFill>
        <p:spPr>
          <a:xfrm>
            <a:off x="4610100" y="2745740"/>
            <a:ext cx="406400" cy="406400"/>
          </a:xfrm>
          <a:prstGeom prst="rect">
            <a:avLst/>
          </a:prstGeom>
        </p:spPr>
      </p:pic>
      <p:sp>
        <p:nvSpPr>
          <p:cNvPr id="9" name="Text 5"/>
          <p:cNvSpPr/>
          <p:nvPr/>
        </p:nvSpPr>
        <p:spPr>
          <a:xfrm>
            <a:off x="5168900" y="2819360"/>
            <a:ext cx="187059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used a map app</a:t>
            </a:r>
            <a:endParaRPr lang="en-US" sz="1700" dirty="0"/>
          </a:p>
        </p:txBody>
      </p:sp>
      <p:sp>
        <p:nvSpPr>
          <p:cNvPr id="10" name="Shape 6"/>
          <p:cNvSpPr/>
          <p:nvPr/>
        </p:nvSpPr>
        <p:spPr>
          <a:xfrm>
            <a:off x="7981950" y="2286000"/>
            <a:ext cx="3390900" cy="1325880"/>
          </a:xfrm>
          <a:prstGeom prst="roundRect">
            <a:avLst>
              <a:gd name="adj" fmla="val 12873"/>
            </a:avLst>
          </a:prstGeom>
          <a:solidFill>
            <a:srgbClr val="FFFFFF"/>
          </a:solidFill>
          <a:ln w="12700">
            <a:solidFill>
              <a:srgbClr val="E4DED5"/>
            </a:solidFill>
            <a:prstDash val="solid"/>
          </a:ln>
        </p:spPr>
        <p:txBody>
          <a:bodyPr/>
          <a:lstStyle/>
          <a:p>
            <a:endParaRPr lang="en-US"/>
          </a:p>
        </p:txBody>
      </p:sp>
      <p:pic>
        <p:nvPicPr>
          <p:cNvPr id="11" name="Image 2" descr="Play"/>
          <p:cNvPicPr>
            <a:picLocks noChangeAspect="1"/>
          </p:cNvPicPr>
          <p:nvPr/>
        </p:nvPicPr>
        <p:blipFill>
          <a:blip r:embed="rId5"/>
          <a:srcRect l="-45" r="-45"/>
          <a:stretch/>
        </p:blipFill>
        <p:spPr>
          <a:xfrm>
            <a:off x="8191500" y="2745740"/>
            <a:ext cx="330498" cy="406400"/>
          </a:xfrm>
          <a:prstGeom prst="rect">
            <a:avLst/>
          </a:prstGeom>
        </p:spPr>
      </p:pic>
      <p:sp>
        <p:nvSpPr>
          <p:cNvPr id="12" name="Text 7"/>
          <p:cNvSpPr/>
          <p:nvPr/>
        </p:nvSpPr>
        <p:spPr>
          <a:xfrm>
            <a:off x="8674398" y="2689880"/>
            <a:ext cx="2563569"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watched a recommended video</a:t>
            </a:r>
            <a:endParaRPr lang="en-US" sz="1700" dirty="0"/>
          </a:p>
        </p:txBody>
      </p:sp>
      <p:sp>
        <p:nvSpPr>
          <p:cNvPr id="13" name="Shape 8"/>
          <p:cNvSpPr/>
          <p:nvPr/>
        </p:nvSpPr>
        <p:spPr>
          <a:xfrm>
            <a:off x="819150" y="3840480"/>
            <a:ext cx="3390900" cy="1325880"/>
          </a:xfrm>
          <a:prstGeom prst="roundRect">
            <a:avLst>
              <a:gd name="adj" fmla="val 12873"/>
            </a:avLst>
          </a:prstGeom>
          <a:solidFill>
            <a:srgbClr val="FFFFFF"/>
          </a:solidFill>
          <a:ln w="12700">
            <a:solidFill>
              <a:srgbClr val="E4DED5"/>
            </a:solidFill>
            <a:prstDash val="solid"/>
          </a:ln>
        </p:spPr>
        <p:txBody>
          <a:bodyPr/>
          <a:lstStyle/>
          <a:p>
            <a:endParaRPr lang="en-US"/>
          </a:p>
        </p:txBody>
      </p:sp>
      <p:pic>
        <p:nvPicPr>
          <p:cNvPr id="14" name="Image 3" descr="Check"/>
          <p:cNvPicPr>
            <a:picLocks noChangeAspect="1"/>
          </p:cNvPicPr>
          <p:nvPr/>
        </p:nvPicPr>
        <p:blipFill>
          <a:blip r:embed="rId6"/>
          <a:srcRect t="-413" b="-413"/>
          <a:stretch/>
        </p:blipFill>
        <p:spPr>
          <a:xfrm>
            <a:off x="1028700" y="4300220"/>
            <a:ext cx="384175" cy="406400"/>
          </a:xfrm>
          <a:prstGeom prst="rect">
            <a:avLst/>
          </a:prstGeom>
        </p:spPr>
      </p:pic>
      <p:sp>
        <p:nvSpPr>
          <p:cNvPr id="15" name="Text 9"/>
          <p:cNvSpPr/>
          <p:nvPr/>
        </p:nvSpPr>
        <p:spPr>
          <a:xfrm>
            <a:off x="1565275" y="4244360"/>
            <a:ext cx="2508282"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had autocorrect fix a word</a:t>
            </a:r>
            <a:endParaRPr lang="en-US" sz="1700" dirty="0"/>
          </a:p>
        </p:txBody>
      </p:sp>
      <p:sp>
        <p:nvSpPr>
          <p:cNvPr id="16" name="Shape 10"/>
          <p:cNvSpPr/>
          <p:nvPr/>
        </p:nvSpPr>
        <p:spPr>
          <a:xfrm>
            <a:off x="4400550" y="3840480"/>
            <a:ext cx="3390900" cy="1325880"/>
          </a:xfrm>
          <a:prstGeom prst="roundRect">
            <a:avLst>
              <a:gd name="adj" fmla="val 12873"/>
            </a:avLst>
          </a:prstGeom>
          <a:solidFill>
            <a:srgbClr val="FFFFFF"/>
          </a:solidFill>
          <a:ln w="12700">
            <a:solidFill>
              <a:srgbClr val="E4DED5"/>
            </a:solidFill>
            <a:prstDash val="solid"/>
          </a:ln>
        </p:spPr>
        <p:txBody>
          <a:bodyPr/>
          <a:lstStyle/>
          <a:p>
            <a:endParaRPr lang="en-US"/>
          </a:p>
        </p:txBody>
      </p:sp>
      <p:pic>
        <p:nvPicPr>
          <p:cNvPr id="17" name="Image 4" descr="Lock"/>
          <p:cNvPicPr>
            <a:picLocks noChangeAspect="1"/>
          </p:cNvPicPr>
          <p:nvPr/>
        </p:nvPicPr>
        <p:blipFill>
          <a:blip r:embed="rId7"/>
          <a:srcRect l="-219" r="-219"/>
          <a:stretch/>
        </p:blipFill>
        <p:spPr>
          <a:xfrm>
            <a:off x="4610100" y="4300220"/>
            <a:ext cx="318889" cy="406400"/>
          </a:xfrm>
          <a:prstGeom prst="rect">
            <a:avLst/>
          </a:prstGeom>
        </p:spPr>
      </p:pic>
      <p:sp>
        <p:nvSpPr>
          <p:cNvPr id="18" name="Text 11"/>
          <p:cNvSpPr/>
          <p:nvPr/>
        </p:nvSpPr>
        <p:spPr>
          <a:xfrm>
            <a:off x="5081389" y="4244360"/>
            <a:ext cx="2575526"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unlocked a device with your face</a:t>
            </a:r>
            <a:endParaRPr lang="en-US" sz="1700" dirty="0"/>
          </a:p>
        </p:txBody>
      </p:sp>
      <p:sp>
        <p:nvSpPr>
          <p:cNvPr id="19" name="Shape 12"/>
          <p:cNvSpPr/>
          <p:nvPr/>
        </p:nvSpPr>
        <p:spPr>
          <a:xfrm>
            <a:off x="7981950" y="3840480"/>
            <a:ext cx="3390900" cy="1325880"/>
          </a:xfrm>
          <a:prstGeom prst="roundRect">
            <a:avLst>
              <a:gd name="adj" fmla="val 12873"/>
            </a:avLst>
          </a:prstGeom>
          <a:solidFill>
            <a:srgbClr val="FFFFFF"/>
          </a:solidFill>
          <a:ln w="12700">
            <a:solidFill>
              <a:srgbClr val="E4DED5"/>
            </a:solidFill>
            <a:prstDash val="solid"/>
          </a:ln>
        </p:spPr>
        <p:txBody>
          <a:bodyPr/>
          <a:lstStyle/>
          <a:p>
            <a:endParaRPr lang="en-US"/>
          </a:p>
        </p:txBody>
      </p:sp>
      <p:pic>
        <p:nvPicPr>
          <p:cNvPr id="20" name="Image 5" descr="Lightning"/>
          <p:cNvPicPr>
            <a:picLocks noChangeAspect="1"/>
          </p:cNvPicPr>
          <p:nvPr/>
        </p:nvPicPr>
        <p:blipFill>
          <a:blip r:embed="rId8"/>
          <a:srcRect/>
          <a:stretch/>
        </p:blipFill>
        <p:spPr>
          <a:xfrm>
            <a:off x="8191500" y="4300220"/>
            <a:ext cx="406400" cy="406400"/>
          </a:xfrm>
          <a:prstGeom prst="rect">
            <a:avLst/>
          </a:prstGeom>
        </p:spPr>
      </p:pic>
      <p:sp>
        <p:nvSpPr>
          <p:cNvPr id="21" name="Text 13"/>
          <p:cNvSpPr/>
          <p:nvPr/>
        </p:nvSpPr>
        <p:spPr>
          <a:xfrm>
            <a:off x="8750300" y="4373841"/>
            <a:ext cx="221587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talked to a chatbot</a:t>
            </a:r>
            <a:endParaRPr lang="en-US" sz="1700" dirty="0"/>
          </a:p>
        </p:txBody>
      </p:sp>
      <p:sp>
        <p:nvSpPr>
          <p:cNvPr id="22"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
        <p:nvSpPr>
          <p:cNvPr id="501" name="Callout"/>
          <p:cNvSpPr/>
          <p:nvPr/>
        </p:nvSpPr>
        <p:spPr>
          <a:xfrm>
            <a:off x="812902" y="5440680"/>
            <a:ext cx="10565892" cy="566928"/>
          </a:xfrm>
          <a:prstGeom prst="roundRect">
            <a:avLst>
              <a:gd name="adj" fmla="val 7576"/>
            </a:avLst>
          </a:prstGeom>
          <a:solidFill>
            <a:srgbClr val="161616"/>
          </a:solidFill>
          <a:ln/>
        </p:spPr>
        <p:txBody>
          <a:bodyPr/>
          <a:lstStyle/>
          <a:p>
            <a:endParaRPr lang="en-US"/>
          </a:p>
        </p:txBody>
      </p:sp>
      <p:sp>
        <p:nvSpPr>
          <p:cNvPr id="502" name="Callout text"/>
          <p:cNvSpPr txBox="1"/>
          <p:nvPr/>
        </p:nvSpPr>
        <p:spPr>
          <a:xfrm>
            <a:off x="812902" y="5440680"/>
            <a:ext cx="10565892" cy="566928"/>
          </a:xfrm>
          <a:prstGeom prst="rect">
            <a:avLst/>
          </a:prstGeom>
          <a:noFill/>
          <a:ln/>
        </p:spPr>
        <p:txBody>
          <a:bodyPr wrap="square" lIns="0" tIns="0" rIns="0" bIns="0" rtlCol="0" anchor="ctr">
            <a:normAutofit/>
          </a:bodyPr>
          <a:lstStyle/>
          <a:p>
            <a:pPr marL="0" indent="0" algn="ctr">
              <a:buNone/>
            </a:pPr>
            <a:r>
              <a:rPr lang="en-US" sz="2000" b="1" dirty="0">
                <a:solidFill>
                  <a:srgbClr val="F6F3EE"/>
                </a:solidFill>
                <a:latin typeface="Nunito Sans" pitchFamily="34" charset="0"/>
                <a:ea typeface="Nunito Sans" pitchFamily="34" charset="-122"/>
                <a:cs typeface="Nunito Sans" pitchFamily="34" charset="-120"/>
              </a:rPr>
              <a:t>Look around.  How many Badgers are still standing?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30552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WHAT YOU THINK I DO VS. WHAT I ACTUALLY DO</a:t>
            </a:r>
            <a:endParaRPr lang="en-US" sz="4800" dirty="0"/>
          </a:p>
        </p:txBody>
      </p:sp>
      <p:sp>
        <p:nvSpPr>
          <p:cNvPr id="3" name="Shape 1"/>
          <p:cNvSpPr/>
          <p:nvPr/>
        </p:nvSpPr>
        <p:spPr>
          <a:xfrm>
            <a:off x="819150" y="2404070"/>
            <a:ext cx="5156200" cy="3431580"/>
          </a:xfrm>
          <a:prstGeom prst="roundRect">
            <a:avLst>
              <a:gd name="adj" fmla="val 4256"/>
            </a:avLst>
          </a:prstGeom>
          <a:solidFill>
            <a:srgbClr val="FFFFFF"/>
          </a:solidFill>
          <a:ln w="12700">
            <a:solidFill>
              <a:srgbClr val="E4DED5"/>
            </a:solidFill>
            <a:prstDash val="solid"/>
          </a:ln>
        </p:spPr>
        <p:txBody>
          <a:bodyPr/>
          <a:lstStyle/>
          <a:p>
            <a:endParaRPr lang="en-US"/>
          </a:p>
        </p:txBody>
      </p:sp>
      <p:sp>
        <p:nvSpPr>
          <p:cNvPr id="4" name="Text 2"/>
          <p:cNvSpPr/>
          <p:nvPr/>
        </p:nvSpPr>
        <p:spPr>
          <a:xfrm>
            <a:off x="1130300" y="2715220"/>
            <a:ext cx="4669917" cy="299641"/>
          </a:xfrm>
          <a:prstGeom prst="rect">
            <a:avLst/>
          </a:prstGeom>
          <a:noFill/>
          <a:ln/>
        </p:spPr>
        <p:txBody>
          <a:bodyPr wrap="square" lIns="0" tIns="0" rIns="0" bIns="0" rtlCol="0" anchor="t">
            <a:normAutofit/>
          </a:bodyPr>
          <a:lstStyle/>
          <a:p>
            <a:pPr marL="0" indent="0" algn="l">
              <a:lnSpc>
                <a:spcPts val="2160"/>
              </a:lnSpc>
              <a:buNone/>
            </a:pPr>
            <a:r>
              <a:rPr lang="en-US" sz="1800" b="1" kern="0" spc="100" dirty="0">
                <a:solidFill>
                  <a:srgbClr val="8F8A82"/>
                </a:solidFill>
                <a:latin typeface="Nunito Sans" pitchFamily="34" charset="0"/>
                <a:ea typeface="Nunito Sans" pitchFamily="34" charset="-122"/>
                <a:cs typeface="Nunito Sans" pitchFamily="34" charset="-120"/>
              </a:rPr>
              <a:t>WHAT YOU THINK I DO</a:t>
            </a:r>
            <a:endParaRPr lang="en-US" sz="1800" dirty="0"/>
          </a:p>
        </p:txBody>
      </p:sp>
      <p:sp>
        <p:nvSpPr>
          <p:cNvPr id="5" name="Text 3"/>
          <p:cNvSpPr/>
          <p:nvPr/>
        </p:nvSpPr>
        <p:spPr>
          <a:xfrm>
            <a:off x="1159510" y="3141861"/>
            <a:ext cx="4633087" cy="1549400"/>
          </a:xfrm>
          <a:prstGeom prst="rect">
            <a:avLst/>
          </a:prstGeom>
          <a:noFill/>
          <a:ln/>
        </p:spPr>
        <p:txBody>
          <a:bodyPr wrap="square" lIns="0" tIns="0" rIns="0" bIns="0" rtlCol="0" anchor="t">
            <a:normAutofit/>
          </a:bodyPr>
          <a:lstStyle/>
          <a:p>
            <a:pPr marL="224790" indent="-224790" algn="l">
              <a:lnSpc>
                <a:spcPts val="3000"/>
              </a:lnSpc>
              <a:buSzPct val="100000"/>
              <a:buChar char="•"/>
            </a:pPr>
            <a:r>
              <a:rPr lang="en-US" sz="2000" dirty="0">
                <a:solidFill>
                  <a:srgbClr val="4A4A4A"/>
                </a:solidFill>
                <a:latin typeface="Nunito Sans" pitchFamily="34" charset="0"/>
                <a:ea typeface="Nunito Sans" pitchFamily="34" charset="-122"/>
                <a:cs typeface="Nunito Sans" pitchFamily="34" charset="-120"/>
              </a:rPr>
              <a:t>Hacker in a hoodie, dark room</a:t>
            </a:r>
            <a:endParaRPr lang="en-US" sz="2000" dirty="0"/>
          </a:p>
          <a:p>
            <a:pPr marL="224790" indent="-224790" algn="l">
              <a:lnSpc>
                <a:spcPts val="3000"/>
              </a:lnSpc>
              <a:buSzPct val="100000"/>
              <a:buChar char="•"/>
            </a:pPr>
            <a:r>
              <a:rPr lang="en-US" sz="2000" dirty="0">
                <a:solidFill>
                  <a:srgbClr val="4A4A4A"/>
                </a:solidFill>
                <a:latin typeface="Nunito Sans" pitchFamily="34" charset="0"/>
                <a:ea typeface="Nunito Sans" pitchFamily="34" charset="-122"/>
                <a:cs typeface="Nunito Sans" pitchFamily="34" charset="-120"/>
              </a:rPr>
              <a:t>Types green code for 8 hours</a:t>
            </a:r>
            <a:endParaRPr lang="en-US" sz="2000" dirty="0"/>
          </a:p>
          <a:p>
            <a:pPr marL="224790" indent="-224790" algn="l">
              <a:lnSpc>
                <a:spcPts val="3000"/>
              </a:lnSpc>
              <a:buSzPct val="100000"/>
              <a:buChar char="•"/>
            </a:pPr>
            <a:r>
              <a:rPr lang="en-US" sz="2000" dirty="0">
                <a:solidFill>
                  <a:srgbClr val="4A4A4A"/>
                </a:solidFill>
                <a:latin typeface="Nunito Sans" pitchFamily="34" charset="0"/>
                <a:ea typeface="Nunito Sans" pitchFamily="34" charset="-122"/>
                <a:cs typeface="Nunito Sans" pitchFamily="34" charset="-120"/>
              </a:rPr>
              <a:t>Fixes the school Wi-Fi</a:t>
            </a:r>
            <a:endParaRPr lang="en-US" sz="2000" dirty="0"/>
          </a:p>
          <a:p>
            <a:pPr marL="224790" indent="-224790" algn="l">
              <a:lnSpc>
                <a:spcPts val="3000"/>
              </a:lnSpc>
              <a:buSzPct val="100000"/>
              <a:buChar char="•"/>
            </a:pPr>
            <a:r>
              <a:rPr lang="en-US" sz="2000" dirty="0">
                <a:solidFill>
                  <a:srgbClr val="4A4A4A"/>
                </a:solidFill>
                <a:latin typeface="Nunito Sans" pitchFamily="34" charset="0"/>
                <a:ea typeface="Nunito Sans" pitchFamily="34" charset="-122"/>
                <a:cs typeface="Nunito Sans" pitchFamily="34" charset="-120"/>
              </a:rPr>
              <a:t>Works alone</a:t>
            </a:r>
            <a:endParaRPr lang="en-US" sz="2000" dirty="0"/>
          </a:p>
        </p:txBody>
      </p:sp>
      <p:sp>
        <p:nvSpPr>
          <p:cNvPr id="6" name="Shape 4"/>
          <p:cNvSpPr/>
          <p:nvPr/>
        </p:nvSpPr>
        <p:spPr>
          <a:xfrm>
            <a:off x="6235700" y="2397720"/>
            <a:ext cx="5143500" cy="3444280"/>
          </a:xfrm>
          <a:prstGeom prst="roundRect">
            <a:avLst>
              <a:gd name="adj" fmla="val 4425"/>
            </a:avLst>
          </a:prstGeom>
          <a:solidFill>
            <a:srgbClr val="D21F2B"/>
          </a:solidFill>
          <a:ln/>
        </p:spPr>
        <p:txBody>
          <a:bodyPr/>
          <a:lstStyle/>
          <a:p>
            <a:endParaRPr lang="en-US"/>
          </a:p>
        </p:txBody>
      </p:sp>
      <p:sp>
        <p:nvSpPr>
          <p:cNvPr id="7" name="Text 5"/>
          <p:cNvSpPr/>
          <p:nvPr/>
        </p:nvSpPr>
        <p:spPr>
          <a:xfrm>
            <a:off x="6540500" y="2702520"/>
            <a:ext cx="4669917" cy="299641"/>
          </a:xfrm>
          <a:prstGeom prst="rect">
            <a:avLst/>
          </a:prstGeom>
          <a:noFill/>
          <a:ln/>
        </p:spPr>
        <p:txBody>
          <a:bodyPr wrap="square" lIns="0" tIns="0" rIns="0" bIns="0" rtlCol="0" anchor="t">
            <a:normAutofit/>
          </a:bodyPr>
          <a:lstStyle/>
          <a:p>
            <a:pPr marL="0" indent="0" algn="l">
              <a:lnSpc>
                <a:spcPts val="2160"/>
              </a:lnSpc>
              <a:buNone/>
            </a:pPr>
            <a:r>
              <a:rPr lang="en-US" sz="1800" b="1" kern="0" spc="100" dirty="0">
                <a:solidFill>
                  <a:srgbClr val="F6F3EE"/>
                </a:solidFill>
                <a:latin typeface="Nunito Sans" pitchFamily="34" charset="0"/>
                <a:ea typeface="Nunito Sans" pitchFamily="34" charset="-122"/>
                <a:cs typeface="Nunito Sans" pitchFamily="34" charset="-120"/>
              </a:rPr>
              <a:t>WHAT I ACTUALLY DO</a:t>
            </a:r>
            <a:endParaRPr lang="en-US" sz="1800" dirty="0"/>
          </a:p>
        </p:txBody>
      </p:sp>
      <p:sp>
        <p:nvSpPr>
          <p:cNvPr id="8" name="Text 6"/>
          <p:cNvSpPr/>
          <p:nvPr/>
        </p:nvSpPr>
        <p:spPr>
          <a:xfrm>
            <a:off x="6569710" y="3129161"/>
            <a:ext cx="4633087" cy="1549400"/>
          </a:xfrm>
          <a:prstGeom prst="rect">
            <a:avLst/>
          </a:prstGeom>
          <a:noFill/>
          <a:ln/>
        </p:spPr>
        <p:txBody>
          <a:bodyPr wrap="square" lIns="0" tIns="0" rIns="0" bIns="0" rtlCol="0" anchor="t">
            <a:normAutofit/>
          </a:bodyPr>
          <a:lstStyle/>
          <a:p>
            <a:pPr marL="224790" indent="-224790" algn="l">
              <a:lnSpc>
                <a:spcPts val="3000"/>
              </a:lnSpc>
              <a:buSzPct val="100000"/>
              <a:buChar char="•"/>
            </a:pPr>
            <a:r>
              <a:rPr lang="en-US" sz="2000" dirty="0">
                <a:solidFill>
                  <a:srgbClr val="F6F3EE"/>
                </a:solidFill>
                <a:latin typeface="Nunito Sans" pitchFamily="34" charset="0"/>
                <a:ea typeface="Nunito Sans" pitchFamily="34" charset="-122"/>
                <a:cs typeface="Nunito Sans" pitchFamily="34" charset="-120"/>
              </a:rPr>
              <a:t>Draw plans on a whiteboard</a:t>
            </a:r>
            <a:endParaRPr lang="en-US" sz="2000" dirty="0"/>
          </a:p>
          <a:p>
            <a:pPr marL="224790" indent="-224790" algn="l">
              <a:lnSpc>
                <a:spcPts val="3000"/>
              </a:lnSpc>
              <a:buSzPct val="100000"/>
              <a:buChar char="•"/>
            </a:pPr>
            <a:r>
              <a:rPr lang="en-US" sz="2000" dirty="0">
                <a:solidFill>
                  <a:srgbClr val="F6F3EE"/>
                </a:solidFill>
                <a:latin typeface="Nunito Sans" pitchFamily="34" charset="0"/>
                <a:ea typeface="Nunito Sans" pitchFamily="34" charset="-122"/>
                <a:cs typeface="Nunito Sans" pitchFamily="34" charset="-120"/>
              </a:rPr>
              <a:t>Ask people what they need</a:t>
            </a:r>
            <a:endParaRPr lang="en-US" sz="2000" dirty="0"/>
          </a:p>
          <a:p>
            <a:pPr marL="224790" indent="-224790" algn="l">
              <a:lnSpc>
                <a:spcPts val="3000"/>
              </a:lnSpc>
              <a:buSzPct val="100000"/>
              <a:buChar char="•"/>
            </a:pPr>
            <a:r>
              <a:rPr lang="en-US" sz="2000" dirty="0">
                <a:solidFill>
                  <a:srgbClr val="F6F3EE"/>
                </a:solidFill>
                <a:latin typeface="Nunito Sans" pitchFamily="34" charset="0"/>
                <a:ea typeface="Nunito Sans" pitchFamily="34" charset="-122"/>
                <a:cs typeface="Nunito Sans" pitchFamily="34" charset="-120"/>
              </a:rPr>
              <a:t>Connect the pieces so they work</a:t>
            </a:r>
            <a:endParaRPr lang="en-US" sz="2000" dirty="0"/>
          </a:p>
          <a:p>
            <a:pPr marL="224790" indent="-224790" algn="l">
              <a:lnSpc>
                <a:spcPts val="3000"/>
              </a:lnSpc>
              <a:buSzPct val="100000"/>
              <a:buChar char="•"/>
            </a:pPr>
            <a:r>
              <a:rPr lang="en-US" sz="2000" dirty="0">
                <a:solidFill>
                  <a:srgbClr val="F6F3EE"/>
                </a:solidFill>
                <a:latin typeface="Nunito Sans" pitchFamily="34" charset="0"/>
                <a:ea typeface="Nunito Sans" pitchFamily="34" charset="-122"/>
                <a:cs typeface="Nunito Sans" pitchFamily="34" charset="-120"/>
              </a:rPr>
              <a:t>Explain it in plain English, on a team</a:t>
            </a:r>
            <a:endParaRPr lang="en-US" sz="20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30552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AN ARCHITECT DRAWS THE PLAN BEFORE ANYONE BUILDS</a:t>
            </a:r>
            <a:endParaRPr lang="en-US" sz="4800" dirty="0"/>
          </a:p>
        </p:txBody>
      </p:sp>
      <p:sp>
        <p:nvSpPr>
          <p:cNvPr id="3" name="Shape 1"/>
          <p:cNvSpPr/>
          <p:nvPr/>
        </p:nvSpPr>
        <p:spPr>
          <a:xfrm>
            <a:off x="819150" y="2404070"/>
            <a:ext cx="4648200" cy="3431580"/>
          </a:xfrm>
          <a:prstGeom prst="roundRect">
            <a:avLst>
              <a:gd name="adj" fmla="val 4256"/>
            </a:avLst>
          </a:prstGeom>
          <a:solidFill>
            <a:srgbClr val="FFFFFF"/>
          </a:solidFill>
          <a:ln w="12700">
            <a:solidFill>
              <a:srgbClr val="E4DED5"/>
            </a:solidFill>
            <a:prstDash val="solid"/>
          </a:ln>
        </p:spPr>
        <p:txBody>
          <a:bodyPr/>
          <a:lstStyle/>
          <a:p>
            <a:endParaRPr lang="en-US"/>
          </a:p>
        </p:txBody>
      </p:sp>
      <p:pic>
        <p:nvPicPr>
          <p:cNvPr id="4" name="Image 0" descr="Home"/>
          <p:cNvPicPr>
            <a:picLocks noChangeAspect="1"/>
          </p:cNvPicPr>
          <p:nvPr/>
        </p:nvPicPr>
        <p:blipFill>
          <a:blip r:embed="rId3"/>
          <a:srcRect/>
          <a:stretch/>
        </p:blipFill>
        <p:spPr>
          <a:xfrm>
            <a:off x="1130300" y="2715220"/>
            <a:ext cx="508000" cy="508000"/>
          </a:xfrm>
          <a:prstGeom prst="rect">
            <a:avLst/>
          </a:prstGeom>
        </p:spPr>
      </p:pic>
      <p:sp>
        <p:nvSpPr>
          <p:cNvPr id="5" name="Text 2"/>
          <p:cNvSpPr/>
          <p:nvPr/>
        </p:nvSpPr>
        <p:spPr>
          <a:xfrm>
            <a:off x="1130300" y="3401020"/>
            <a:ext cx="414667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616"/>
                </a:solidFill>
                <a:latin typeface="Nunito Sans" pitchFamily="34" charset="0"/>
                <a:ea typeface="Nunito Sans" pitchFamily="34" charset="-122"/>
                <a:cs typeface="Nunito Sans" pitchFamily="34" charset="-120"/>
              </a:rPr>
              <a:t>Building architect</a:t>
            </a:r>
            <a:endParaRPr lang="en-US" sz="2000" dirty="0"/>
          </a:p>
        </p:txBody>
      </p:sp>
      <p:sp>
        <p:nvSpPr>
          <p:cNvPr id="6" name="Text 3"/>
          <p:cNvSpPr/>
          <p:nvPr/>
        </p:nvSpPr>
        <p:spPr>
          <a:xfrm>
            <a:off x="1130300" y="3883620"/>
            <a:ext cx="4146677" cy="1277541"/>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4A4A4A"/>
                </a:solidFill>
                <a:latin typeface="Nunito Sans" pitchFamily="34" charset="0"/>
                <a:ea typeface="Nunito Sans" pitchFamily="34" charset="-122"/>
                <a:cs typeface="Nunito Sans" pitchFamily="34" charset="-120"/>
              </a:rPr>
              <a:t>Plans where the gym, the exits, and the electricity go. Does not lay every brick. Makes sure it all fits and does not fall down.</a:t>
            </a:r>
            <a:endParaRPr lang="en-US" sz="1700" dirty="0"/>
          </a:p>
        </p:txBody>
      </p:sp>
      <p:pic>
        <p:nvPicPr>
          <p:cNvPr id="7" name="Image 1" descr="arrow-right"/>
          <p:cNvPicPr>
            <a:picLocks noChangeAspect="1"/>
          </p:cNvPicPr>
          <p:nvPr/>
        </p:nvPicPr>
        <p:blipFill>
          <a:blip r:embed="rId4"/>
          <a:srcRect/>
          <a:stretch/>
        </p:blipFill>
        <p:spPr>
          <a:xfrm>
            <a:off x="5727700" y="3929360"/>
            <a:ext cx="762000" cy="381000"/>
          </a:xfrm>
          <a:prstGeom prst="rect">
            <a:avLst/>
          </a:prstGeom>
        </p:spPr>
      </p:pic>
      <p:sp>
        <p:nvSpPr>
          <p:cNvPr id="8" name="Shape 4"/>
          <p:cNvSpPr/>
          <p:nvPr/>
        </p:nvSpPr>
        <p:spPr>
          <a:xfrm>
            <a:off x="6743700" y="2397720"/>
            <a:ext cx="4635500" cy="3444280"/>
          </a:xfrm>
          <a:prstGeom prst="roundRect">
            <a:avLst>
              <a:gd name="adj" fmla="val 4425"/>
            </a:avLst>
          </a:prstGeom>
          <a:solidFill>
            <a:srgbClr val="161616"/>
          </a:solidFill>
          <a:ln/>
        </p:spPr>
        <p:txBody>
          <a:bodyPr/>
          <a:lstStyle/>
          <a:p>
            <a:endParaRPr lang="en-US"/>
          </a:p>
        </p:txBody>
      </p:sp>
      <p:pic>
        <p:nvPicPr>
          <p:cNvPr id="9" name="Image 2" descr="Cloud"/>
          <p:cNvPicPr>
            <a:picLocks noChangeAspect="1"/>
          </p:cNvPicPr>
          <p:nvPr/>
        </p:nvPicPr>
        <p:blipFill>
          <a:blip r:embed="rId5"/>
          <a:srcRect/>
          <a:stretch/>
        </p:blipFill>
        <p:spPr>
          <a:xfrm>
            <a:off x="7048500" y="2702520"/>
            <a:ext cx="508000" cy="508000"/>
          </a:xfrm>
          <a:prstGeom prst="rect">
            <a:avLst/>
          </a:prstGeom>
        </p:spPr>
      </p:pic>
      <p:sp>
        <p:nvSpPr>
          <p:cNvPr id="10" name="Text 5"/>
          <p:cNvSpPr/>
          <p:nvPr/>
        </p:nvSpPr>
        <p:spPr>
          <a:xfrm>
            <a:off x="7048500" y="3388320"/>
            <a:ext cx="414667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3EE"/>
                </a:solidFill>
                <a:latin typeface="Nunito Sans" pitchFamily="34" charset="0"/>
                <a:ea typeface="Nunito Sans" pitchFamily="34" charset="-122"/>
                <a:cs typeface="Nunito Sans" pitchFamily="34" charset="-120"/>
              </a:rPr>
              <a:t>Cloud &amp; AI architect</a:t>
            </a:r>
            <a:endParaRPr lang="en-US" sz="2000" dirty="0"/>
          </a:p>
        </p:txBody>
      </p:sp>
      <p:sp>
        <p:nvSpPr>
          <p:cNvPr id="11" name="Text 6"/>
          <p:cNvSpPr/>
          <p:nvPr/>
        </p:nvSpPr>
        <p:spPr>
          <a:xfrm>
            <a:off x="7048500" y="3870920"/>
            <a:ext cx="4146677" cy="1277541"/>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D9D5CE"/>
                </a:solidFill>
                <a:latin typeface="Nunito Sans" pitchFamily="34" charset="0"/>
                <a:ea typeface="Nunito Sans" pitchFamily="34" charset="-122"/>
                <a:cs typeface="Nunito Sans" pitchFamily="34" charset="-120"/>
              </a:rPr>
              <a:t>Plans where the apps, the data, and the AI go. Decides which pieces talk to each other and how to keep it safe. Makes sure it all fits and does not crash.</a:t>
            </a:r>
            <a:endParaRPr lang="en-US" sz="1700" dirty="0"/>
          </a:p>
        </p:txBody>
      </p:sp>
      <p:sp>
        <p:nvSpPr>
          <p:cNvPr id="12"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QUICK VOTE: WHERE IS YOUR GAME SAVE?</a:t>
            </a:r>
            <a:endParaRPr lang="en-US" sz="1400" dirty="0"/>
          </a:p>
        </p:txBody>
      </p:sp>
      <p:sp>
        <p:nvSpPr>
          <p:cNvPr id="3" name="Text 1"/>
          <p:cNvSpPr>
            <a:spLocks noGrp="1"/>
          </p:cNvSpPr>
          <p:nvPr>
            <p:ph type="title"/>
          </p:nvPr>
        </p:nvSpPr>
        <p:spPr>
          <a:xfrm>
            <a:off x="812800" y="13664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3EE"/>
                </a:solidFill>
                <a:latin typeface="Oswald" pitchFamily="34" charset="0"/>
                <a:ea typeface="Oswald" pitchFamily="34" charset="-122"/>
                <a:cs typeface="Oswald" pitchFamily="34" charset="-120"/>
              </a:rPr>
              <a:t>THE CLOUD IS NOT IN THE SKY</a:t>
            </a:r>
            <a:endParaRPr lang="en-US" sz="4800" dirty="0"/>
          </a:p>
        </p:txBody>
      </p:sp>
      <p:sp>
        <p:nvSpPr>
          <p:cNvPr id="4" name="Text 2"/>
          <p:cNvSpPr/>
          <p:nvPr/>
        </p:nvSpPr>
        <p:spPr>
          <a:xfrm>
            <a:off x="812800" y="2311301"/>
            <a:ext cx="10883392" cy="779661"/>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D9D5CE"/>
                </a:solidFill>
                <a:latin typeface="Nunito Sans" pitchFamily="34" charset="0"/>
                <a:ea typeface="Nunito Sans" pitchFamily="34" charset="-122"/>
                <a:cs typeface="Nunito Sans" pitchFamily="34" charset="-120"/>
              </a:rPr>
              <a:t>It is giant buildings full of computers that companies rent over the internet. Your saves, photos, videos, and chatbots all live there.</a:t>
            </a:r>
            <a:endParaRPr lang="en-US" sz="2200" dirty="0"/>
          </a:p>
        </p:txBody>
      </p:sp>
      <p:sp>
        <p:nvSpPr>
          <p:cNvPr id="5" name="Shape 3"/>
          <p:cNvSpPr/>
          <p:nvPr/>
        </p:nvSpPr>
        <p:spPr>
          <a:xfrm>
            <a:off x="812800" y="4260949"/>
            <a:ext cx="2508250" cy="1581051"/>
          </a:xfrm>
          <a:prstGeom prst="roundRect">
            <a:avLst>
              <a:gd name="adj" fmla="val 8033"/>
            </a:avLst>
          </a:prstGeom>
          <a:solidFill>
            <a:srgbClr val="242424"/>
          </a:solidFill>
          <a:ln/>
        </p:spPr>
        <p:txBody>
          <a:bodyPr/>
          <a:lstStyle/>
          <a:p>
            <a:endParaRPr lang="en-US"/>
          </a:p>
        </p:txBody>
      </p:sp>
      <p:sp>
        <p:nvSpPr>
          <p:cNvPr id="6" name="Shape 4"/>
          <p:cNvSpPr/>
          <p:nvPr/>
        </p:nvSpPr>
        <p:spPr>
          <a:xfrm>
            <a:off x="812800" y="4260949"/>
            <a:ext cx="2508250" cy="1581051"/>
          </a:xfrm>
          <a:custGeom>
            <a:avLst/>
            <a:gdLst/>
            <a:ahLst/>
            <a:cxnLst/>
            <a:rect l="l" t="t" r="r" b="b"/>
            <a:pathLst>
              <a:path w="2508250" h="158105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D21F2B"/>
          </a:solidFill>
          <a:ln/>
        </p:spPr>
        <p:txBody>
          <a:bodyPr/>
          <a:lstStyle/>
          <a:p>
            <a:endParaRPr lang="en-US"/>
          </a:p>
        </p:txBody>
      </p:sp>
      <p:pic>
        <p:nvPicPr>
          <p:cNvPr id="7" name="Image 0" descr="Lightning"/>
          <p:cNvPicPr>
            <a:picLocks noChangeAspect="1"/>
          </p:cNvPicPr>
          <p:nvPr/>
        </p:nvPicPr>
        <p:blipFill>
          <a:blip r:embed="rId3"/>
          <a:srcRect/>
          <a:stretch/>
        </p:blipFill>
        <p:spPr>
          <a:xfrm>
            <a:off x="1041400" y="4540349"/>
            <a:ext cx="355600" cy="355600"/>
          </a:xfrm>
          <a:prstGeom prst="rect">
            <a:avLst/>
          </a:prstGeom>
        </p:spPr>
      </p:pic>
      <p:sp>
        <p:nvSpPr>
          <p:cNvPr id="8" name="Text 5"/>
          <p:cNvSpPr/>
          <p:nvPr/>
        </p:nvSpPr>
        <p:spPr>
          <a:xfrm>
            <a:off x="1041400" y="4997549"/>
            <a:ext cx="211258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3EE"/>
                </a:solidFill>
                <a:latin typeface="Nunito Sans" pitchFamily="34" charset="0"/>
                <a:ea typeface="Nunito Sans" pitchFamily="34" charset="-122"/>
                <a:cs typeface="Nunito Sans" pitchFamily="34" charset="-120"/>
              </a:rPr>
              <a:t>Power</a:t>
            </a:r>
            <a:endParaRPr lang="en-US" sz="1800" dirty="0"/>
          </a:p>
        </p:txBody>
      </p:sp>
      <p:sp>
        <p:nvSpPr>
          <p:cNvPr id="9" name="Text 6"/>
          <p:cNvSpPr/>
          <p:nvPr/>
        </p:nvSpPr>
        <p:spPr>
          <a:xfrm>
            <a:off x="1041400" y="5373390"/>
            <a:ext cx="211258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9D5CE"/>
                </a:solidFill>
                <a:latin typeface="Nunito Sans" pitchFamily="34" charset="0"/>
                <a:ea typeface="Nunito Sans" pitchFamily="34" charset="-122"/>
                <a:cs typeface="Nunito Sans" pitchFamily="34" charset="-120"/>
              </a:rPr>
              <a:t>to think fast</a:t>
            </a:r>
            <a:endParaRPr lang="en-US" sz="1400" dirty="0"/>
          </a:p>
        </p:txBody>
      </p:sp>
      <p:sp>
        <p:nvSpPr>
          <p:cNvPr id="10" name="Shape 7"/>
          <p:cNvSpPr/>
          <p:nvPr/>
        </p:nvSpPr>
        <p:spPr>
          <a:xfrm>
            <a:off x="3498850" y="4260949"/>
            <a:ext cx="2508250" cy="1581051"/>
          </a:xfrm>
          <a:prstGeom prst="roundRect">
            <a:avLst>
              <a:gd name="adj" fmla="val 8033"/>
            </a:avLst>
          </a:prstGeom>
          <a:solidFill>
            <a:srgbClr val="242424"/>
          </a:solidFill>
          <a:ln/>
        </p:spPr>
        <p:txBody>
          <a:bodyPr/>
          <a:lstStyle/>
          <a:p>
            <a:endParaRPr lang="en-US"/>
          </a:p>
        </p:txBody>
      </p:sp>
      <p:sp>
        <p:nvSpPr>
          <p:cNvPr id="11" name="Shape 8"/>
          <p:cNvSpPr/>
          <p:nvPr/>
        </p:nvSpPr>
        <p:spPr>
          <a:xfrm>
            <a:off x="3498850" y="4260949"/>
            <a:ext cx="2508250" cy="1581051"/>
          </a:xfrm>
          <a:custGeom>
            <a:avLst/>
            <a:gdLst/>
            <a:ahLst/>
            <a:cxnLst/>
            <a:rect l="l" t="t" r="r" b="b"/>
            <a:pathLst>
              <a:path w="2508250" h="158105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D21F2B"/>
          </a:solidFill>
          <a:ln/>
        </p:spPr>
        <p:txBody>
          <a:bodyPr/>
          <a:lstStyle/>
          <a:p>
            <a:endParaRPr lang="en-US"/>
          </a:p>
        </p:txBody>
      </p:sp>
      <p:pic>
        <p:nvPicPr>
          <p:cNvPr id="12" name="Image 1" descr="Database"/>
          <p:cNvPicPr>
            <a:picLocks noChangeAspect="1"/>
          </p:cNvPicPr>
          <p:nvPr/>
        </p:nvPicPr>
        <p:blipFill>
          <a:blip r:embed="rId4"/>
          <a:srcRect/>
          <a:stretch/>
        </p:blipFill>
        <p:spPr>
          <a:xfrm>
            <a:off x="3727450" y="4540349"/>
            <a:ext cx="355600" cy="355600"/>
          </a:xfrm>
          <a:prstGeom prst="rect">
            <a:avLst/>
          </a:prstGeom>
        </p:spPr>
      </p:pic>
      <p:sp>
        <p:nvSpPr>
          <p:cNvPr id="13" name="Text 9"/>
          <p:cNvSpPr/>
          <p:nvPr/>
        </p:nvSpPr>
        <p:spPr>
          <a:xfrm>
            <a:off x="3727450" y="4997549"/>
            <a:ext cx="211258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3EE"/>
                </a:solidFill>
                <a:latin typeface="Nunito Sans" pitchFamily="34" charset="0"/>
                <a:ea typeface="Nunito Sans" pitchFamily="34" charset="-122"/>
                <a:cs typeface="Nunito Sans" pitchFamily="34" charset="-120"/>
              </a:rPr>
              <a:t>Storage</a:t>
            </a:r>
            <a:endParaRPr lang="en-US" sz="1800" dirty="0"/>
          </a:p>
        </p:txBody>
      </p:sp>
      <p:sp>
        <p:nvSpPr>
          <p:cNvPr id="14" name="Text 10"/>
          <p:cNvSpPr/>
          <p:nvPr/>
        </p:nvSpPr>
        <p:spPr>
          <a:xfrm>
            <a:off x="3727450" y="5373390"/>
            <a:ext cx="211258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9D5CE"/>
                </a:solidFill>
                <a:latin typeface="Nunito Sans" pitchFamily="34" charset="0"/>
                <a:ea typeface="Nunito Sans" pitchFamily="34" charset="-122"/>
                <a:cs typeface="Nunito Sans" pitchFamily="34" charset="-120"/>
              </a:rPr>
              <a:t>to remember</a:t>
            </a:r>
            <a:endParaRPr lang="en-US" sz="1400" dirty="0"/>
          </a:p>
        </p:txBody>
      </p:sp>
      <p:sp>
        <p:nvSpPr>
          <p:cNvPr id="15" name="Shape 11"/>
          <p:cNvSpPr/>
          <p:nvPr/>
        </p:nvSpPr>
        <p:spPr>
          <a:xfrm>
            <a:off x="6184900" y="4260949"/>
            <a:ext cx="2508250" cy="1581051"/>
          </a:xfrm>
          <a:prstGeom prst="roundRect">
            <a:avLst>
              <a:gd name="adj" fmla="val 8033"/>
            </a:avLst>
          </a:prstGeom>
          <a:solidFill>
            <a:srgbClr val="242424"/>
          </a:solidFill>
          <a:ln/>
        </p:spPr>
        <p:txBody>
          <a:bodyPr/>
          <a:lstStyle/>
          <a:p>
            <a:endParaRPr lang="en-US"/>
          </a:p>
        </p:txBody>
      </p:sp>
      <p:sp>
        <p:nvSpPr>
          <p:cNvPr id="16" name="Shape 12"/>
          <p:cNvSpPr/>
          <p:nvPr/>
        </p:nvSpPr>
        <p:spPr>
          <a:xfrm>
            <a:off x="6184900" y="4260949"/>
            <a:ext cx="2508250" cy="1581051"/>
          </a:xfrm>
          <a:custGeom>
            <a:avLst/>
            <a:gdLst/>
            <a:ahLst/>
            <a:cxnLst/>
            <a:rect l="l" t="t" r="r" b="b"/>
            <a:pathLst>
              <a:path w="2508250" h="158105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D21F2B"/>
          </a:solidFill>
          <a:ln/>
        </p:spPr>
        <p:txBody>
          <a:bodyPr/>
          <a:lstStyle/>
          <a:p>
            <a:endParaRPr lang="en-US"/>
          </a:p>
        </p:txBody>
      </p:sp>
      <p:pic>
        <p:nvPicPr>
          <p:cNvPr id="17" name="Image 2" descr="Lock"/>
          <p:cNvPicPr>
            <a:picLocks noChangeAspect="1"/>
          </p:cNvPicPr>
          <p:nvPr/>
        </p:nvPicPr>
        <p:blipFill>
          <a:blip r:embed="rId5"/>
          <a:srcRect/>
          <a:stretch/>
        </p:blipFill>
        <p:spPr>
          <a:xfrm>
            <a:off x="6413500" y="4540349"/>
            <a:ext cx="355600" cy="355600"/>
          </a:xfrm>
          <a:prstGeom prst="rect">
            <a:avLst/>
          </a:prstGeom>
        </p:spPr>
      </p:pic>
      <p:sp>
        <p:nvSpPr>
          <p:cNvPr id="18" name="Text 13"/>
          <p:cNvSpPr/>
          <p:nvPr/>
        </p:nvSpPr>
        <p:spPr>
          <a:xfrm>
            <a:off x="6413500" y="4997549"/>
            <a:ext cx="211258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3EE"/>
                </a:solidFill>
                <a:latin typeface="Nunito Sans" pitchFamily="34" charset="0"/>
                <a:ea typeface="Nunito Sans" pitchFamily="34" charset="-122"/>
                <a:cs typeface="Nunito Sans" pitchFamily="34" charset="-120"/>
              </a:rPr>
              <a:t>Security</a:t>
            </a:r>
            <a:endParaRPr lang="en-US" sz="1800" dirty="0"/>
          </a:p>
        </p:txBody>
      </p:sp>
      <p:sp>
        <p:nvSpPr>
          <p:cNvPr id="19" name="Text 14"/>
          <p:cNvSpPr/>
          <p:nvPr/>
        </p:nvSpPr>
        <p:spPr>
          <a:xfrm>
            <a:off x="6413500" y="5373390"/>
            <a:ext cx="211258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9D5CE"/>
                </a:solidFill>
                <a:latin typeface="Nunito Sans" pitchFamily="34" charset="0"/>
                <a:ea typeface="Nunito Sans" pitchFamily="34" charset="-122"/>
                <a:cs typeface="Nunito Sans" pitchFamily="34" charset="-120"/>
              </a:rPr>
              <a:t>to keep it safe</a:t>
            </a:r>
            <a:endParaRPr lang="en-US" sz="1400" dirty="0"/>
          </a:p>
        </p:txBody>
      </p:sp>
      <p:sp>
        <p:nvSpPr>
          <p:cNvPr id="20" name="Shape 15"/>
          <p:cNvSpPr/>
          <p:nvPr/>
        </p:nvSpPr>
        <p:spPr>
          <a:xfrm>
            <a:off x="8870950" y="4260949"/>
            <a:ext cx="2508250" cy="1581051"/>
          </a:xfrm>
          <a:prstGeom prst="roundRect">
            <a:avLst>
              <a:gd name="adj" fmla="val 8033"/>
            </a:avLst>
          </a:prstGeom>
          <a:solidFill>
            <a:srgbClr val="242424"/>
          </a:solidFill>
          <a:ln/>
        </p:spPr>
        <p:txBody>
          <a:bodyPr/>
          <a:lstStyle/>
          <a:p>
            <a:endParaRPr lang="en-US"/>
          </a:p>
        </p:txBody>
      </p:sp>
      <p:sp>
        <p:nvSpPr>
          <p:cNvPr id="21" name="Shape 16"/>
          <p:cNvSpPr/>
          <p:nvPr/>
        </p:nvSpPr>
        <p:spPr>
          <a:xfrm>
            <a:off x="8870950" y="4260949"/>
            <a:ext cx="2508250" cy="1581051"/>
          </a:xfrm>
          <a:custGeom>
            <a:avLst/>
            <a:gdLst/>
            <a:ahLst/>
            <a:cxnLst/>
            <a:rect l="l" t="t" r="r" b="b"/>
            <a:pathLst>
              <a:path w="2508250" h="1581051">
                <a:moveTo>
                  <a:pt x="0" y="127000"/>
                </a:moveTo>
                <a:lnTo>
                  <a:pt x="0" y="127000"/>
                </a:lnTo>
                <a:arcTo wR="127000" hR="127000" stAng="10800000" swAng="5400000"/>
                <a:lnTo>
                  <a:pt x="2381250" y="0"/>
                </a:lnTo>
                <a:arcTo wR="127000" hR="127000" stAng="16200000" swAng="5400000"/>
                <a:lnTo>
                  <a:pt x="2508250" y="127000"/>
                </a:lnTo>
                <a:arcTo wR="127000" hR="76200" stAng="0" swAng="-5400000"/>
                <a:lnTo>
                  <a:pt x="127000" y="50800"/>
                </a:lnTo>
                <a:arcTo wR="127000" hR="76200" stAng="16200000" swAng="-5400000"/>
                <a:close/>
              </a:path>
            </a:pathLst>
          </a:custGeom>
          <a:solidFill>
            <a:srgbClr val="D21F2B"/>
          </a:solidFill>
          <a:ln/>
        </p:spPr>
        <p:txBody>
          <a:bodyPr/>
          <a:lstStyle/>
          <a:p>
            <a:endParaRPr lang="en-US"/>
          </a:p>
        </p:txBody>
      </p:sp>
      <p:pic>
        <p:nvPicPr>
          <p:cNvPr id="22" name="Image 3" descr="Link"/>
          <p:cNvPicPr>
            <a:picLocks noChangeAspect="1"/>
          </p:cNvPicPr>
          <p:nvPr/>
        </p:nvPicPr>
        <p:blipFill>
          <a:blip r:embed="rId6"/>
          <a:srcRect/>
          <a:stretch/>
        </p:blipFill>
        <p:spPr>
          <a:xfrm>
            <a:off x="9099550" y="4540349"/>
            <a:ext cx="355600" cy="355600"/>
          </a:xfrm>
          <a:prstGeom prst="rect">
            <a:avLst/>
          </a:prstGeom>
        </p:spPr>
      </p:pic>
      <p:sp>
        <p:nvSpPr>
          <p:cNvPr id="23" name="Text 17"/>
          <p:cNvSpPr/>
          <p:nvPr/>
        </p:nvSpPr>
        <p:spPr>
          <a:xfrm>
            <a:off x="9099550" y="4997549"/>
            <a:ext cx="211258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3EE"/>
                </a:solidFill>
                <a:latin typeface="Nunito Sans" pitchFamily="34" charset="0"/>
                <a:ea typeface="Nunito Sans" pitchFamily="34" charset="-122"/>
                <a:cs typeface="Nunito Sans" pitchFamily="34" charset="-120"/>
              </a:rPr>
              <a:t>Connection</a:t>
            </a:r>
            <a:endParaRPr lang="en-US" sz="1800" dirty="0"/>
          </a:p>
        </p:txBody>
      </p:sp>
      <p:sp>
        <p:nvSpPr>
          <p:cNvPr id="24" name="Text 18"/>
          <p:cNvSpPr/>
          <p:nvPr/>
        </p:nvSpPr>
        <p:spPr>
          <a:xfrm>
            <a:off x="9099550" y="5373390"/>
            <a:ext cx="211258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9D5CE"/>
                </a:solidFill>
                <a:latin typeface="Nunito Sans" pitchFamily="34" charset="0"/>
                <a:ea typeface="Nunito Sans" pitchFamily="34" charset="-122"/>
                <a:cs typeface="Nunito Sans" pitchFamily="34" charset="-120"/>
              </a:rPr>
              <a:t>to reach every phone</a:t>
            </a:r>
            <a:endParaRPr lang="en-US" sz="1400" dirty="0"/>
          </a:p>
        </p:txBody>
      </p:sp>
      <p:sp>
        <p:nvSpPr>
          <p:cNvPr id="25"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THUMBS UP = AI · THUMBS DOWN = NOT AI</a:t>
            </a:r>
            <a:endParaRPr lang="en-US" sz="1400" dirty="0"/>
          </a:p>
        </p:txBody>
      </p:sp>
      <p:sp>
        <p:nvSpPr>
          <p:cNvPr id="3" name="Text 1"/>
          <p:cNvSpPr>
            <a:spLocks noGrp="1"/>
          </p:cNvSpPr>
          <p:nvPr>
            <p:ph type="title"/>
          </p:nvPr>
        </p:nvSpPr>
        <p:spPr>
          <a:xfrm>
            <a:off x="812800" y="13664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AI LEARNS PATTERNS FROM EXAMPLES</a:t>
            </a:r>
            <a:endParaRPr lang="en-US" sz="4800" dirty="0"/>
          </a:p>
        </p:txBody>
      </p:sp>
      <p:sp>
        <p:nvSpPr>
          <p:cNvPr id="4" name="Shape 2"/>
          <p:cNvSpPr/>
          <p:nvPr/>
        </p:nvSpPr>
        <p:spPr>
          <a:xfrm>
            <a:off x="819150" y="2286000"/>
            <a:ext cx="2495550" cy="1965960"/>
          </a:xfrm>
          <a:prstGeom prst="roundRect">
            <a:avLst>
              <a:gd name="adj" fmla="val 7480"/>
            </a:avLst>
          </a:prstGeom>
          <a:solidFill>
            <a:srgbClr val="FFFFFF"/>
          </a:solidFill>
          <a:ln w="12700">
            <a:solidFill>
              <a:srgbClr val="E4DED5"/>
            </a:solidFill>
            <a:prstDash val="solid"/>
          </a:ln>
        </p:spPr>
        <p:txBody>
          <a:bodyPr/>
          <a:lstStyle/>
          <a:p>
            <a:endParaRPr lang="en-US"/>
          </a:p>
        </p:txBody>
      </p:sp>
      <p:pic>
        <p:nvPicPr>
          <p:cNvPr id="5" name="Image 0" descr="Settings"/>
          <p:cNvPicPr>
            <a:picLocks noChangeAspect="1"/>
          </p:cNvPicPr>
          <p:nvPr/>
        </p:nvPicPr>
        <p:blipFill>
          <a:blip r:embed="rId3"/>
          <a:srcRect/>
          <a:stretch/>
        </p:blipFill>
        <p:spPr>
          <a:xfrm>
            <a:off x="1838325" y="2722880"/>
            <a:ext cx="457200" cy="457200"/>
          </a:xfrm>
          <a:prstGeom prst="rect">
            <a:avLst/>
          </a:prstGeom>
        </p:spPr>
      </p:pic>
      <p:sp>
        <p:nvSpPr>
          <p:cNvPr id="6" name="Text 3"/>
          <p:cNvSpPr/>
          <p:nvPr/>
        </p:nvSpPr>
        <p:spPr>
          <a:xfrm>
            <a:off x="1399103" y="3307080"/>
            <a:ext cx="1335643" cy="279400"/>
          </a:xfrm>
          <a:prstGeom prst="rect">
            <a:avLst/>
          </a:prstGeom>
          <a:noFill/>
          <a:ln/>
        </p:spPr>
        <p:txBody>
          <a:bodyPr wrap="square" lIns="0" tIns="0" rIns="0" bIns="0" rtlCol="0" anchor="t">
            <a:normAutofit/>
          </a:bodyPr>
          <a:lstStyle/>
          <a:p>
            <a:pPr marL="0" indent="0" algn="ctr">
              <a:lnSpc>
                <a:spcPts val="2000"/>
              </a:lnSpc>
              <a:buNone/>
            </a:pPr>
            <a:r>
              <a:rPr lang="en-US" sz="1600" b="1" dirty="0">
                <a:solidFill>
                  <a:srgbClr val="161616"/>
                </a:solidFill>
                <a:latin typeface="Nunito Sans" pitchFamily="34" charset="0"/>
                <a:ea typeface="Nunito Sans" pitchFamily="34" charset="-122"/>
                <a:cs typeface="Nunito Sans" pitchFamily="34" charset="-120"/>
              </a:rPr>
              <a:t>A calculator</a:t>
            </a:r>
            <a:endParaRPr lang="en-US" sz="1600" dirty="0"/>
          </a:p>
        </p:txBody>
      </p:sp>
      <p:sp>
        <p:nvSpPr>
          <p:cNvPr id="7" name="Shape 4"/>
          <p:cNvSpPr/>
          <p:nvPr/>
        </p:nvSpPr>
        <p:spPr>
          <a:xfrm>
            <a:off x="3505200" y="2286000"/>
            <a:ext cx="2495550" cy="1965960"/>
          </a:xfrm>
          <a:prstGeom prst="roundRect">
            <a:avLst>
              <a:gd name="adj" fmla="val 7480"/>
            </a:avLst>
          </a:prstGeom>
          <a:solidFill>
            <a:srgbClr val="FFFFFF"/>
          </a:solidFill>
          <a:ln w="12700">
            <a:solidFill>
              <a:srgbClr val="E4DED5"/>
            </a:solidFill>
            <a:prstDash val="solid"/>
          </a:ln>
        </p:spPr>
        <p:txBody>
          <a:bodyPr/>
          <a:lstStyle/>
          <a:p>
            <a:endParaRPr lang="en-US"/>
          </a:p>
        </p:txBody>
      </p:sp>
      <p:pic>
        <p:nvPicPr>
          <p:cNvPr id="8" name="Image 1" descr="Globe"/>
          <p:cNvPicPr>
            <a:picLocks noChangeAspect="1"/>
          </p:cNvPicPr>
          <p:nvPr/>
        </p:nvPicPr>
        <p:blipFill>
          <a:blip r:embed="rId4"/>
          <a:srcRect/>
          <a:stretch/>
        </p:blipFill>
        <p:spPr>
          <a:xfrm>
            <a:off x="4524375" y="2722880"/>
            <a:ext cx="457200" cy="457200"/>
          </a:xfrm>
          <a:prstGeom prst="rect">
            <a:avLst/>
          </a:prstGeom>
        </p:spPr>
      </p:pic>
      <p:sp>
        <p:nvSpPr>
          <p:cNvPr id="9" name="Text 5"/>
          <p:cNvSpPr/>
          <p:nvPr/>
        </p:nvSpPr>
        <p:spPr>
          <a:xfrm>
            <a:off x="3631279" y="3307080"/>
            <a:ext cx="2243391" cy="533400"/>
          </a:xfrm>
          <a:prstGeom prst="rect">
            <a:avLst/>
          </a:prstGeom>
          <a:noFill/>
          <a:ln/>
        </p:spPr>
        <p:txBody>
          <a:bodyPr wrap="square" lIns="0" tIns="0" rIns="0" bIns="0" rtlCol="0" anchor="t">
            <a:normAutofit/>
          </a:bodyPr>
          <a:lstStyle/>
          <a:p>
            <a:pPr marL="0" indent="0" algn="ctr">
              <a:lnSpc>
                <a:spcPts val="2000"/>
              </a:lnSpc>
              <a:buNone/>
            </a:pPr>
            <a:r>
              <a:rPr lang="en-US" sz="1600" b="1" dirty="0">
                <a:solidFill>
                  <a:srgbClr val="161616"/>
                </a:solidFill>
                <a:latin typeface="Nunito Sans" pitchFamily="34" charset="0"/>
                <a:ea typeface="Nunito Sans" pitchFamily="34" charset="-122"/>
                <a:cs typeface="Nunito Sans" pitchFamily="34" charset="-120"/>
              </a:rPr>
              <a:t>A map app rerouting around traffic</a:t>
            </a:r>
            <a:endParaRPr lang="en-US" sz="1600" dirty="0"/>
          </a:p>
        </p:txBody>
      </p:sp>
      <p:sp>
        <p:nvSpPr>
          <p:cNvPr id="10" name="Shape 6"/>
          <p:cNvSpPr/>
          <p:nvPr/>
        </p:nvSpPr>
        <p:spPr>
          <a:xfrm>
            <a:off x="6191250" y="2286000"/>
            <a:ext cx="2495550" cy="1965960"/>
          </a:xfrm>
          <a:prstGeom prst="roundRect">
            <a:avLst>
              <a:gd name="adj" fmla="val 7480"/>
            </a:avLst>
          </a:prstGeom>
          <a:solidFill>
            <a:srgbClr val="FFFFFF"/>
          </a:solidFill>
          <a:ln w="12700">
            <a:solidFill>
              <a:srgbClr val="E4DED5"/>
            </a:solidFill>
            <a:prstDash val="solid"/>
          </a:ln>
        </p:spPr>
        <p:txBody>
          <a:bodyPr/>
          <a:lstStyle/>
          <a:p>
            <a:endParaRPr lang="en-US"/>
          </a:p>
        </p:txBody>
      </p:sp>
      <p:pic>
        <p:nvPicPr>
          <p:cNvPr id="11" name="Image 2" descr="Star"/>
          <p:cNvPicPr>
            <a:picLocks noChangeAspect="1"/>
          </p:cNvPicPr>
          <p:nvPr/>
        </p:nvPicPr>
        <p:blipFill>
          <a:blip r:embed="rId5"/>
          <a:srcRect/>
          <a:stretch/>
        </p:blipFill>
        <p:spPr>
          <a:xfrm>
            <a:off x="7210425" y="2722880"/>
            <a:ext cx="457200" cy="457200"/>
          </a:xfrm>
          <a:prstGeom prst="rect">
            <a:avLst/>
          </a:prstGeom>
        </p:spPr>
      </p:pic>
      <p:sp>
        <p:nvSpPr>
          <p:cNvPr id="12" name="Text 7"/>
          <p:cNvSpPr/>
          <p:nvPr/>
        </p:nvSpPr>
        <p:spPr>
          <a:xfrm>
            <a:off x="6317329" y="3307080"/>
            <a:ext cx="2243391" cy="533400"/>
          </a:xfrm>
          <a:prstGeom prst="rect">
            <a:avLst/>
          </a:prstGeom>
          <a:noFill/>
          <a:ln/>
        </p:spPr>
        <p:txBody>
          <a:bodyPr wrap="square" lIns="0" tIns="0" rIns="0" bIns="0" rtlCol="0" anchor="t">
            <a:normAutofit/>
          </a:bodyPr>
          <a:lstStyle/>
          <a:p>
            <a:pPr marL="0" indent="0" algn="ctr">
              <a:lnSpc>
                <a:spcPts val="2000"/>
              </a:lnSpc>
              <a:buNone/>
            </a:pPr>
            <a:r>
              <a:rPr lang="en-US" sz="1600" b="1" dirty="0">
                <a:solidFill>
                  <a:srgbClr val="161616"/>
                </a:solidFill>
                <a:latin typeface="Nunito Sans" pitchFamily="34" charset="0"/>
                <a:ea typeface="Nunito Sans" pitchFamily="34" charset="-122"/>
                <a:cs typeface="Nunito Sans" pitchFamily="34" charset="-120"/>
              </a:rPr>
              <a:t>A movie robot with feelings</a:t>
            </a:r>
            <a:endParaRPr lang="en-US" sz="1600" dirty="0"/>
          </a:p>
        </p:txBody>
      </p:sp>
      <p:sp>
        <p:nvSpPr>
          <p:cNvPr id="13" name="Shape 8"/>
          <p:cNvSpPr/>
          <p:nvPr/>
        </p:nvSpPr>
        <p:spPr>
          <a:xfrm>
            <a:off x="8877300" y="2286000"/>
            <a:ext cx="2495550" cy="1965960"/>
          </a:xfrm>
          <a:prstGeom prst="roundRect">
            <a:avLst>
              <a:gd name="adj" fmla="val 7480"/>
            </a:avLst>
          </a:prstGeom>
          <a:solidFill>
            <a:srgbClr val="FFFFFF"/>
          </a:solidFill>
          <a:ln w="12700">
            <a:solidFill>
              <a:srgbClr val="E4DED5"/>
            </a:solidFill>
            <a:prstDash val="solid"/>
          </a:ln>
        </p:spPr>
        <p:txBody>
          <a:bodyPr/>
          <a:lstStyle/>
          <a:p>
            <a:endParaRPr lang="en-US"/>
          </a:p>
        </p:txBody>
      </p:sp>
      <p:pic>
        <p:nvPicPr>
          <p:cNvPr id="14" name="Image 3" descr="Check"/>
          <p:cNvPicPr>
            <a:picLocks noChangeAspect="1"/>
          </p:cNvPicPr>
          <p:nvPr/>
        </p:nvPicPr>
        <p:blipFill>
          <a:blip r:embed="rId6"/>
          <a:srcRect/>
          <a:stretch/>
        </p:blipFill>
        <p:spPr>
          <a:xfrm>
            <a:off x="9896475" y="2722880"/>
            <a:ext cx="457200" cy="457200"/>
          </a:xfrm>
          <a:prstGeom prst="rect">
            <a:avLst/>
          </a:prstGeom>
        </p:spPr>
      </p:pic>
      <p:sp>
        <p:nvSpPr>
          <p:cNvPr id="15" name="Text 9"/>
          <p:cNvSpPr/>
          <p:nvPr/>
        </p:nvSpPr>
        <p:spPr>
          <a:xfrm>
            <a:off x="9471422" y="3307080"/>
            <a:ext cx="1307306" cy="279400"/>
          </a:xfrm>
          <a:prstGeom prst="rect">
            <a:avLst/>
          </a:prstGeom>
          <a:noFill/>
          <a:ln/>
        </p:spPr>
        <p:txBody>
          <a:bodyPr wrap="square" lIns="0" tIns="0" rIns="0" bIns="0" rtlCol="0" anchor="t">
            <a:normAutofit/>
          </a:bodyPr>
          <a:lstStyle/>
          <a:p>
            <a:pPr marL="0" indent="0" algn="ctr">
              <a:lnSpc>
                <a:spcPts val="2000"/>
              </a:lnSpc>
              <a:buNone/>
            </a:pPr>
            <a:r>
              <a:rPr lang="en-US" sz="1600" b="1" dirty="0">
                <a:solidFill>
                  <a:srgbClr val="161616"/>
                </a:solidFill>
                <a:latin typeface="Nunito Sans" pitchFamily="34" charset="0"/>
                <a:ea typeface="Nunito Sans" pitchFamily="34" charset="-122"/>
                <a:cs typeface="Nunito Sans" pitchFamily="34" charset="-120"/>
              </a:rPr>
              <a:t>Autocorrect</a:t>
            </a:r>
            <a:endParaRPr lang="en-US" sz="1600" dirty="0"/>
          </a:p>
        </p:txBody>
      </p:sp>
      <p:sp>
        <p:nvSpPr>
          <p:cNvPr id="16" name="Shape 10"/>
          <p:cNvSpPr/>
          <p:nvPr/>
        </p:nvSpPr>
        <p:spPr>
          <a:xfrm>
            <a:off x="812800" y="4617720"/>
            <a:ext cx="5143500" cy="1043781"/>
          </a:xfrm>
          <a:prstGeom prst="roundRect">
            <a:avLst>
              <a:gd name="adj" fmla="val 12167"/>
            </a:avLst>
          </a:prstGeom>
          <a:solidFill>
            <a:srgbClr val="161616"/>
          </a:solidFill>
          <a:ln/>
        </p:spPr>
        <p:txBody>
          <a:bodyPr/>
          <a:lstStyle/>
          <a:p>
            <a:endParaRPr lang="en-US"/>
          </a:p>
        </p:txBody>
      </p:sp>
      <p:pic>
        <p:nvPicPr>
          <p:cNvPr id="17" name="Image 4" descr="CheckCircle"/>
          <p:cNvPicPr>
            <a:picLocks noChangeAspect="1"/>
          </p:cNvPicPr>
          <p:nvPr/>
        </p:nvPicPr>
        <p:blipFill>
          <a:blip r:embed="rId7"/>
          <a:srcRect l="-415" r="-415"/>
          <a:stretch/>
        </p:blipFill>
        <p:spPr>
          <a:xfrm>
            <a:off x="1066800" y="4961810"/>
            <a:ext cx="300930" cy="355600"/>
          </a:xfrm>
          <a:prstGeom prst="rect">
            <a:avLst/>
          </a:prstGeom>
        </p:spPr>
      </p:pic>
      <p:sp>
        <p:nvSpPr>
          <p:cNvPr id="18" name="Text 11"/>
          <p:cNvSpPr/>
          <p:nvPr/>
        </p:nvSpPr>
        <p:spPr>
          <a:xfrm>
            <a:off x="1520130" y="4859020"/>
            <a:ext cx="4307635"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F6F3EE"/>
                </a:solidFill>
                <a:latin typeface="Nunito Sans" pitchFamily="34" charset="0"/>
                <a:ea typeface="Nunito Sans" pitchFamily="34" charset="-122"/>
                <a:cs typeface="Nunito Sans" pitchFamily="34" charset="-120"/>
              </a:rPr>
              <a:t>AI is</a:t>
            </a:r>
            <a:r>
              <a:rPr lang="en-US" sz="1700" dirty="0">
                <a:solidFill>
                  <a:srgbClr val="F6F3EE"/>
                </a:solidFill>
                <a:latin typeface="Nunito Sans" pitchFamily="34" charset="0"/>
                <a:ea typeface="Nunito Sans" pitchFamily="34" charset="-122"/>
                <a:cs typeface="Nunito Sans" pitchFamily="34" charset="-120"/>
              </a:rPr>
              <a:t> a program that learns patterns from examples</a:t>
            </a:r>
            <a:endParaRPr lang="en-US" sz="1700" dirty="0"/>
          </a:p>
        </p:txBody>
      </p:sp>
      <p:sp>
        <p:nvSpPr>
          <p:cNvPr id="19" name="Shape 12"/>
          <p:cNvSpPr/>
          <p:nvPr/>
        </p:nvSpPr>
        <p:spPr>
          <a:xfrm>
            <a:off x="6216650" y="4624070"/>
            <a:ext cx="5156200" cy="1031081"/>
          </a:xfrm>
          <a:prstGeom prst="roundRect">
            <a:avLst>
              <a:gd name="adj" fmla="val 11701"/>
            </a:avLst>
          </a:prstGeom>
          <a:solidFill>
            <a:srgbClr val="FFFFFF"/>
          </a:solidFill>
          <a:ln w="12700">
            <a:solidFill>
              <a:srgbClr val="E4DED5"/>
            </a:solidFill>
            <a:prstDash val="solid"/>
          </a:ln>
        </p:spPr>
        <p:txBody>
          <a:bodyPr/>
          <a:lstStyle/>
          <a:p>
            <a:endParaRPr lang="en-US"/>
          </a:p>
        </p:txBody>
      </p:sp>
      <p:pic>
        <p:nvPicPr>
          <p:cNvPr id="20" name="Image 5" descr="Warning"/>
          <p:cNvPicPr>
            <a:picLocks noChangeAspect="1"/>
          </p:cNvPicPr>
          <p:nvPr/>
        </p:nvPicPr>
        <p:blipFill>
          <a:blip r:embed="rId8"/>
          <a:srcRect t="-268" b="-268"/>
          <a:stretch/>
        </p:blipFill>
        <p:spPr>
          <a:xfrm>
            <a:off x="6477000" y="4961810"/>
            <a:ext cx="277912" cy="355600"/>
          </a:xfrm>
          <a:prstGeom prst="rect">
            <a:avLst/>
          </a:prstGeom>
        </p:spPr>
      </p:pic>
      <p:sp>
        <p:nvSpPr>
          <p:cNvPr id="21" name="Text 13"/>
          <p:cNvSpPr/>
          <p:nvPr/>
        </p:nvSpPr>
        <p:spPr>
          <a:xfrm>
            <a:off x="6907312" y="4859020"/>
            <a:ext cx="4331344"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is not</a:t>
            </a:r>
            <a:r>
              <a:rPr lang="en-US" sz="1700" dirty="0">
                <a:solidFill>
                  <a:srgbClr val="161616"/>
                </a:solidFill>
                <a:latin typeface="Nunito Sans" pitchFamily="34" charset="0"/>
                <a:ea typeface="Nunito Sans" pitchFamily="34" charset="-122"/>
                <a:cs typeface="Nunito Sans" pitchFamily="34" charset="-120"/>
              </a:rPr>
              <a:t> a brain, a robot that understands you, or magic</a:t>
            </a:r>
            <a:endParaRPr lang="en-US" sz="1700" dirty="0"/>
          </a:p>
        </p:txBody>
      </p:sp>
      <p:sp>
        <p:nvSpPr>
          <p:cNvPr id="22"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21F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0846"/>
          </a:xfrm>
          <a:prstGeom prst="rect">
            <a:avLst/>
          </a:prstGeom>
          <a:noFill/>
          <a:ln/>
        </p:spPr>
        <p:txBody>
          <a:bodyPr wrap="square" lIns="0" tIns="0" rIns="0" bIns="0" rtlCol="0" anchor="t">
            <a:normAutofit/>
          </a:bodyPr>
          <a:lstStyle/>
          <a:p>
            <a:pPr marL="0" indent="0" algn="l">
              <a:lnSpc>
                <a:spcPts val="1874"/>
              </a:lnSpc>
              <a:buNone/>
            </a:pPr>
            <a:r>
              <a:rPr lang="en-US" sz="1339" b="1" kern="0" spc="200" dirty="0">
                <a:solidFill>
                  <a:srgbClr val="F6F3EE"/>
                </a:solidFill>
                <a:latin typeface="Nunito Sans" pitchFamily="34" charset="0"/>
                <a:ea typeface="Nunito Sans" pitchFamily="34" charset="-122"/>
                <a:cs typeface="Nunito Sans" pitchFamily="34" charset="-120"/>
              </a:rPr>
              <a:t>ACTIVITY 1 · SHOUT THE NEXT WORD!</a:t>
            </a:r>
            <a:endParaRPr lang="en-US" sz="1339" dirty="0"/>
          </a:p>
        </p:txBody>
      </p:sp>
      <p:sp>
        <p:nvSpPr>
          <p:cNvPr id="3" name="Text 1"/>
          <p:cNvSpPr>
            <a:spLocks noGrp="1"/>
          </p:cNvSpPr>
          <p:nvPr>
            <p:ph type="title"/>
          </p:nvPr>
        </p:nvSpPr>
        <p:spPr>
          <a:xfrm>
            <a:off x="812800" y="1302246"/>
            <a:ext cx="10883392" cy="746224"/>
          </a:xfrm>
          <a:prstGeom prst="rect">
            <a:avLst/>
          </a:prstGeom>
          <a:noFill/>
          <a:ln/>
        </p:spPr>
        <p:txBody>
          <a:bodyPr wrap="square" lIns="0" tIns="0" rIns="0" bIns="0" rtlCol="0" anchor="t">
            <a:normAutofit/>
          </a:bodyPr>
          <a:lstStyle/>
          <a:p>
            <a:pPr marL="0" indent="0" algn="l">
              <a:lnSpc>
                <a:spcPts val="5719"/>
              </a:lnSpc>
              <a:buNone/>
            </a:pPr>
            <a:r>
              <a:rPr lang="en-US" sz="5719" b="1" i="0" dirty="0">
                <a:solidFill>
                  <a:srgbClr val="F6F3EE"/>
                </a:solidFill>
                <a:latin typeface="Oswald" pitchFamily="34" charset="0"/>
                <a:ea typeface="Oswald" pitchFamily="34" charset="-122"/>
                <a:cs typeface="Oswald" pitchFamily="34" charset="-120"/>
              </a:rPr>
              <a:t>BE THE AI</a:t>
            </a:r>
            <a:endParaRPr lang="en-US" sz="5719" dirty="0"/>
          </a:p>
        </p:txBody>
      </p:sp>
      <p:sp>
        <p:nvSpPr>
          <p:cNvPr id="4" name="Text 2"/>
          <p:cNvSpPr/>
          <p:nvPr/>
        </p:nvSpPr>
        <p:spPr>
          <a:xfrm>
            <a:off x="812800" y="2531070"/>
            <a:ext cx="10566400" cy="732532"/>
          </a:xfrm>
          <a:prstGeom prst="roundRect">
            <a:avLst>
              <a:gd name="adj" fmla="val 13870"/>
            </a:avLst>
          </a:prstGeom>
          <a:solidFill>
            <a:srgbClr val="B3161F"/>
          </a:solidFill>
          <a:ln/>
        </p:spPr>
        <p:txBody>
          <a:bodyPr wrap="square" lIns="224242" tIns="97242" rIns="0" bIns="71842" rtlCol="0" anchor="t">
            <a:normAutofit/>
          </a:bodyPr>
          <a:lstStyle/>
          <a:p>
            <a:pPr marL="0" indent="0" algn="l">
              <a:lnSpc>
                <a:spcPts val="3765"/>
              </a:lnSpc>
              <a:buNone/>
            </a:pPr>
            <a:r>
              <a:rPr lang="en-US" sz="3274" dirty="0">
                <a:solidFill>
                  <a:srgbClr val="F6F3EE"/>
                </a:solidFill>
                <a:latin typeface="Oswald" pitchFamily="34" charset="0"/>
                <a:ea typeface="Oswald" pitchFamily="34" charset="-122"/>
                <a:cs typeface="Oswald" pitchFamily="34" charset="-120"/>
              </a:rPr>
              <a:t>Peanut butter and ______</a:t>
            </a:r>
            <a:endParaRPr lang="en-US" sz="3274" dirty="0"/>
          </a:p>
        </p:txBody>
      </p:sp>
      <p:sp>
        <p:nvSpPr>
          <p:cNvPr id="5" name="Text 3"/>
          <p:cNvSpPr/>
          <p:nvPr/>
        </p:nvSpPr>
        <p:spPr>
          <a:xfrm>
            <a:off x="812800" y="3390602"/>
            <a:ext cx="10566400" cy="732433"/>
          </a:xfrm>
          <a:prstGeom prst="roundRect">
            <a:avLst>
              <a:gd name="adj" fmla="val 13872"/>
            </a:avLst>
          </a:prstGeom>
          <a:solidFill>
            <a:srgbClr val="B3161F"/>
          </a:solidFill>
          <a:ln/>
        </p:spPr>
        <p:txBody>
          <a:bodyPr wrap="square" lIns="224242" tIns="97242" rIns="0" bIns="71842" rtlCol="0" anchor="t">
            <a:normAutofit/>
          </a:bodyPr>
          <a:lstStyle/>
          <a:p>
            <a:pPr marL="0" indent="0" algn="l">
              <a:lnSpc>
                <a:spcPts val="3765"/>
              </a:lnSpc>
              <a:buNone/>
            </a:pPr>
            <a:r>
              <a:rPr lang="en-US" sz="3274" dirty="0">
                <a:solidFill>
                  <a:srgbClr val="F6F3EE"/>
                </a:solidFill>
                <a:latin typeface="Oswald" pitchFamily="34" charset="0"/>
                <a:ea typeface="Oswald" pitchFamily="34" charset="-122"/>
                <a:cs typeface="Oswald" pitchFamily="34" charset="-120"/>
              </a:rPr>
              <a:t>Once upon a ______</a:t>
            </a:r>
            <a:endParaRPr lang="en-US" sz="3274" dirty="0"/>
          </a:p>
        </p:txBody>
      </p:sp>
      <p:sp>
        <p:nvSpPr>
          <p:cNvPr id="6" name="Text 4"/>
          <p:cNvSpPr/>
          <p:nvPr/>
        </p:nvSpPr>
        <p:spPr>
          <a:xfrm>
            <a:off x="812800" y="4250035"/>
            <a:ext cx="10566400" cy="732532"/>
          </a:xfrm>
          <a:prstGeom prst="roundRect">
            <a:avLst>
              <a:gd name="adj" fmla="val 13870"/>
            </a:avLst>
          </a:prstGeom>
          <a:solidFill>
            <a:srgbClr val="B3161F"/>
          </a:solidFill>
          <a:ln/>
        </p:spPr>
        <p:txBody>
          <a:bodyPr wrap="square" lIns="224242" tIns="97242" rIns="0" bIns="71842" rtlCol="0" anchor="t">
            <a:normAutofit/>
          </a:bodyPr>
          <a:lstStyle/>
          <a:p>
            <a:pPr marL="0" indent="0" algn="l">
              <a:lnSpc>
                <a:spcPts val="3765"/>
              </a:lnSpc>
              <a:buNone/>
            </a:pPr>
            <a:r>
              <a:rPr lang="en-US" sz="3274" dirty="0">
                <a:solidFill>
                  <a:srgbClr val="F6F3EE"/>
                </a:solidFill>
                <a:latin typeface="Oswald" pitchFamily="34" charset="0"/>
                <a:ea typeface="Oswald" pitchFamily="34" charset="-122"/>
                <a:cs typeface="Oswald" pitchFamily="34" charset="-120"/>
              </a:rPr>
              <a:t>The Badgers are going to ______</a:t>
            </a:r>
            <a:endParaRPr lang="en-US" sz="3274" dirty="0"/>
          </a:p>
        </p:txBody>
      </p:sp>
      <p:sp>
        <p:nvSpPr>
          <p:cNvPr id="7" name="Text 5"/>
          <p:cNvSpPr/>
          <p:nvPr/>
        </p:nvSpPr>
        <p:spPr>
          <a:xfrm>
            <a:off x="812800" y="5109567"/>
            <a:ext cx="10566400" cy="732433"/>
          </a:xfrm>
          <a:prstGeom prst="roundRect">
            <a:avLst>
              <a:gd name="adj" fmla="val 13872"/>
            </a:avLst>
          </a:prstGeom>
          <a:solidFill>
            <a:srgbClr val="B3161F"/>
          </a:solidFill>
          <a:ln/>
        </p:spPr>
        <p:txBody>
          <a:bodyPr wrap="square" lIns="224242" tIns="97242" rIns="0" bIns="71842" rtlCol="0" anchor="t">
            <a:normAutofit/>
          </a:bodyPr>
          <a:lstStyle/>
          <a:p>
            <a:pPr marL="0" indent="0" algn="l">
              <a:lnSpc>
                <a:spcPts val="3765"/>
              </a:lnSpc>
              <a:buNone/>
            </a:pPr>
            <a:r>
              <a:rPr lang="en-US" sz="3274" dirty="0">
                <a:solidFill>
                  <a:srgbClr val="F6F3EE"/>
                </a:solidFill>
                <a:latin typeface="Oswald" pitchFamily="34" charset="0"/>
                <a:ea typeface="Oswald" pitchFamily="34" charset="-122"/>
                <a:cs typeface="Oswald" pitchFamily="34" charset="-120"/>
              </a:rPr>
              <a:t>My favorite class is ______</a:t>
            </a:r>
            <a:endParaRPr lang="en-US" sz="3274"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3EE"/>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30552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HOW AI LEARNS: EXAMPLES IN, PATTERNS OUT</a:t>
            </a:r>
            <a:endParaRPr lang="en-US" sz="4800" dirty="0"/>
          </a:p>
        </p:txBody>
      </p:sp>
      <p:sp>
        <p:nvSpPr>
          <p:cNvPr id="3" name="Shape 1"/>
          <p:cNvSpPr/>
          <p:nvPr/>
        </p:nvSpPr>
        <p:spPr>
          <a:xfrm>
            <a:off x="819150" y="2347317"/>
            <a:ext cx="2908300" cy="2948880"/>
          </a:xfrm>
          <a:prstGeom prst="roundRect">
            <a:avLst>
              <a:gd name="adj" fmla="val 5022"/>
            </a:avLst>
          </a:prstGeom>
          <a:solidFill>
            <a:srgbClr val="FFFFFF"/>
          </a:solidFill>
          <a:ln w="12700">
            <a:solidFill>
              <a:srgbClr val="E4DED5"/>
            </a:solidFill>
            <a:prstDash val="solid"/>
          </a:ln>
        </p:spPr>
        <p:txBody>
          <a:bodyPr/>
          <a:lstStyle/>
          <a:p>
            <a:endParaRPr lang="en-US"/>
          </a:p>
        </p:txBody>
      </p:sp>
      <p:sp>
        <p:nvSpPr>
          <p:cNvPr id="4" name="Text 2"/>
          <p:cNvSpPr/>
          <p:nvPr/>
        </p:nvSpPr>
        <p:spPr>
          <a:xfrm>
            <a:off x="1104900" y="2633067"/>
            <a:ext cx="240690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D21F2B"/>
                </a:solidFill>
                <a:latin typeface="Oswald" pitchFamily="34" charset="0"/>
                <a:ea typeface="Oswald" pitchFamily="34" charset="-122"/>
                <a:cs typeface="Oswald" pitchFamily="34" charset="-120"/>
              </a:rPr>
              <a:t>1</a:t>
            </a:r>
            <a:endParaRPr lang="en-US" sz="4800" dirty="0"/>
          </a:p>
        </p:txBody>
      </p:sp>
      <p:sp>
        <p:nvSpPr>
          <p:cNvPr id="5" name="Text 3"/>
          <p:cNvSpPr/>
          <p:nvPr/>
        </p:nvSpPr>
        <p:spPr>
          <a:xfrm>
            <a:off x="1104900" y="3395067"/>
            <a:ext cx="2406904"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616"/>
                </a:solidFill>
                <a:latin typeface="Nunito Sans" pitchFamily="34" charset="0"/>
                <a:ea typeface="Nunito Sans" pitchFamily="34" charset="-122"/>
                <a:cs typeface="Nunito Sans" pitchFamily="34" charset="-120"/>
              </a:rPr>
              <a:t>Show it millions of examples</a:t>
            </a:r>
            <a:endParaRPr lang="en-US" sz="2000" dirty="0"/>
          </a:p>
        </p:txBody>
      </p:sp>
      <p:sp>
        <p:nvSpPr>
          <p:cNvPr id="6" name="Text 4"/>
          <p:cNvSpPr/>
          <p:nvPr/>
        </p:nvSpPr>
        <p:spPr>
          <a:xfrm>
            <a:off x="1104900" y="4157067"/>
            <a:ext cx="2406904"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A4A"/>
                </a:solidFill>
                <a:latin typeface="Nunito Sans" pitchFamily="34" charset="0"/>
                <a:ea typeface="Nunito Sans" pitchFamily="34" charset="-122"/>
                <a:cs typeface="Nunito Sans" pitchFamily="34" charset="-120"/>
              </a:rPr>
              <a:t>10,000 photos labeled "cat," 10,000 labeled "dog"</a:t>
            </a:r>
            <a:endParaRPr lang="en-US" sz="1600" dirty="0"/>
          </a:p>
        </p:txBody>
      </p:sp>
      <p:pic>
        <p:nvPicPr>
          <p:cNvPr id="7" name="Image 0" descr="arrow-right"/>
          <p:cNvPicPr>
            <a:picLocks noChangeAspect="1"/>
          </p:cNvPicPr>
          <p:nvPr/>
        </p:nvPicPr>
        <p:blipFill>
          <a:blip r:embed="rId3"/>
          <a:srcRect/>
          <a:stretch/>
        </p:blipFill>
        <p:spPr>
          <a:xfrm>
            <a:off x="3886200" y="3669308"/>
            <a:ext cx="609600" cy="304800"/>
          </a:xfrm>
          <a:prstGeom prst="rect">
            <a:avLst/>
          </a:prstGeom>
        </p:spPr>
      </p:pic>
      <p:sp>
        <p:nvSpPr>
          <p:cNvPr id="8" name="Shape 5"/>
          <p:cNvSpPr/>
          <p:nvPr/>
        </p:nvSpPr>
        <p:spPr>
          <a:xfrm>
            <a:off x="4654550" y="2641898"/>
            <a:ext cx="2908300" cy="2359620"/>
          </a:xfrm>
          <a:prstGeom prst="roundRect">
            <a:avLst>
              <a:gd name="adj" fmla="val 6190"/>
            </a:avLst>
          </a:prstGeom>
          <a:solidFill>
            <a:srgbClr val="FFFFFF"/>
          </a:solidFill>
          <a:ln w="12700">
            <a:solidFill>
              <a:srgbClr val="E4DED5"/>
            </a:solidFill>
            <a:prstDash val="solid"/>
          </a:ln>
        </p:spPr>
        <p:txBody>
          <a:bodyPr/>
          <a:lstStyle/>
          <a:p>
            <a:endParaRPr lang="en-US"/>
          </a:p>
        </p:txBody>
      </p:sp>
      <p:sp>
        <p:nvSpPr>
          <p:cNvPr id="9" name="Text 6"/>
          <p:cNvSpPr/>
          <p:nvPr/>
        </p:nvSpPr>
        <p:spPr>
          <a:xfrm>
            <a:off x="4940300" y="2927648"/>
            <a:ext cx="240690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D21F2B"/>
                </a:solidFill>
                <a:latin typeface="Oswald" pitchFamily="34" charset="0"/>
                <a:ea typeface="Oswald" pitchFamily="34" charset="-122"/>
                <a:cs typeface="Oswald" pitchFamily="34" charset="-120"/>
              </a:rPr>
              <a:t>2</a:t>
            </a:r>
            <a:endParaRPr lang="en-US" sz="4800" dirty="0"/>
          </a:p>
        </p:txBody>
      </p:sp>
      <p:sp>
        <p:nvSpPr>
          <p:cNvPr id="10" name="Text 7"/>
          <p:cNvSpPr/>
          <p:nvPr/>
        </p:nvSpPr>
        <p:spPr>
          <a:xfrm>
            <a:off x="4940300" y="3689648"/>
            <a:ext cx="26162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616"/>
                </a:solidFill>
                <a:latin typeface="Nunito Sans" pitchFamily="34" charset="0"/>
                <a:ea typeface="Nunito Sans" pitchFamily="34" charset="-122"/>
                <a:cs typeface="Nunito Sans" pitchFamily="34" charset="-120"/>
              </a:rPr>
              <a:t>It finds the patterns</a:t>
            </a:r>
            <a:endParaRPr lang="en-US" sz="2000" dirty="0"/>
          </a:p>
        </p:txBody>
      </p:sp>
      <p:sp>
        <p:nvSpPr>
          <p:cNvPr id="11" name="Text 8"/>
          <p:cNvSpPr/>
          <p:nvPr/>
        </p:nvSpPr>
        <p:spPr>
          <a:xfrm>
            <a:off x="4940300" y="4146848"/>
            <a:ext cx="240690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A4A"/>
                </a:solidFill>
                <a:latin typeface="Nunito Sans" pitchFamily="34" charset="0"/>
                <a:ea typeface="Nunito Sans" pitchFamily="34" charset="-122"/>
                <a:cs typeface="Nunito Sans" pitchFamily="34" charset="-120"/>
              </a:rPr>
              <a:t>Nobody writes the rule. It just starts to "know."</a:t>
            </a:r>
            <a:endParaRPr lang="en-US" sz="1600" dirty="0"/>
          </a:p>
        </p:txBody>
      </p:sp>
      <p:pic>
        <p:nvPicPr>
          <p:cNvPr id="12" name="Image 1" descr="arrow-right"/>
          <p:cNvPicPr>
            <a:picLocks noChangeAspect="1"/>
          </p:cNvPicPr>
          <p:nvPr/>
        </p:nvPicPr>
        <p:blipFill>
          <a:blip r:embed="rId3"/>
          <a:srcRect/>
          <a:stretch/>
        </p:blipFill>
        <p:spPr>
          <a:xfrm>
            <a:off x="7721600" y="3669308"/>
            <a:ext cx="609600" cy="304800"/>
          </a:xfrm>
          <a:prstGeom prst="rect">
            <a:avLst/>
          </a:prstGeom>
        </p:spPr>
      </p:pic>
      <p:sp>
        <p:nvSpPr>
          <p:cNvPr id="13" name="Shape 9"/>
          <p:cNvSpPr/>
          <p:nvPr/>
        </p:nvSpPr>
        <p:spPr>
          <a:xfrm>
            <a:off x="8483600" y="2495848"/>
            <a:ext cx="2895600" cy="2651720"/>
          </a:xfrm>
          <a:prstGeom prst="roundRect">
            <a:avLst>
              <a:gd name="adj" fmla="val 5747"/>
            </a:avLst>
          </a:prstGeom>
          <a:solidFill>
            <a:srgbClr val="161616"/>
          </a:solidFill>
          <a:ln/>
        </p:spPr>
        <p:txBody>
          <a:bodyPr/>
          <a:lstStyle/>
          <a:p>
            <a:endParaRPr lang="en-US"/>
          </a:p>
        </p:txBody>
      </p:sp>
      <p:sp>
        <p:nvSpPr>
          <p:cNvPr id="14" name="Text 10"/>
          <p:cNvSpPr/>
          <p:nvPr/>
        </p:nvSpPr>
        <p:spPr>
          <a:xfrm>
            <a:off x="8763000" y="2775248"/>
            <a:ext cx="240690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D21F2B"/>
                </a:solidFill>
                <a:latin typeface="Oswald" pitchFamily="34" charset="0"/>
                <a:ea typeface="Oswald" pitchFamily="34" charset="-122"/>
                <a:cs typeface="Oswald" pitchFamily="34" charset="-120"/>
              </a:rPr>
              <a:t>3</a:t>
            </a:r>
            <a:endParaRPr lang="en-US" sz="4800" dirty="0"/>
          </a:p>
        </p:txBody>
      </p:sp>
      <p:sp>
        <p:nvSpPr>
          <p:cNvPr id="15" name="Text 11"/>
          <p:cNvSpPr/>
          <p:nvPr/>
        </p:nvSpPr>
        <p:spPr>
          <a:xfrm>
            <a:off x="8763000" y="3537248"/>
            <a:ext cx="2406904"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3EE"/>
                </a:solidFill>
                <a:latin typeface="Nunito Sans" pitchFamily="34" charset="0"/>
                <a:ea typeface="Nunito Sans" pitchFamily="34" charset="-122"/>
                <a:cs typeface="Nunito Sans" pitchFamily="34" charset="-120"/>
              </a:rPr>
              <a:t>It guesses on new things</a:t>
            </a:r>
            <a:endParaRPr lang="en-US" sz="2000" dirty="0"/>
          </a:p>
        </p:txBody>
      </p:sp>
      <p:sp>
        <p:nvSpPr>
          <p:cNvPr id="16" name="Text 12"/>
          <p:cNvSpPr/>
          <p:nvPr/>
        </p:nvSpPr>
        <p:spPr>
          <a:xfrm>
            <a:off x="8763000" y="4299248"/>
            <a:ext cx="240690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9D5CE"/>
                </a:solidFill>
                <a:latin typeface="Nunito Sans" pitchFamily="34" charset="0"/>
                <a:ea typeface="Nunito Sans" pitchFamily="34" charset="-122"/>
                <a:cs typeface="Nunito Sans" pitchFamily="34" charset="-120"/>
              </a:rPr>
              <a:t>And sometimes a fluffy dog gets labeled "cat?"</a:t>
            </a:r>
            <a:endParaRPr lang="en-US" sz="1600" dirty="0"/>
          </a:p>
        </p:txBody>
      </p:sp>
      <p:sp>
        <p:nvSpPr>
          <p:cNvPr id="17" name="Text 13"/>
          <p:cNvSpPr/>
          <p:nvPr/>
        </p:nvSpPr>
        <p:spPr>
          <a:xfrm>
            <a:off x="812800" y="5550595"/>
            <a:ext cx="10883392" cy="316805"/>
          </a:xfrm>
          <a:prstGeom prst="rect">
            <a:avLst/>
          </a:prstGeom>
          <a:noFill/>
          <a:ln/>
        </p:spPr>
        <p:txBody>
          <a:bodyPr wrap="square" lIns="0" tIns="0" rIns="0" bIns="0" rtlCol="0" anchor="t">
            <a:normAutofit/>
          </a:bodyPr>
          <a:lstStyle/>
          <a:p>
            <a:pPr marL="0" indent="0" algn="l">
              <a:lnSpc>
                <a:spcPts val="2295"/>
              </a:lnSpc>
              <a:buNone/>
            </a:pPr>
            <a:r>
              <a:rPr lang="en-US" sz="1700" b="1" dirty="0">
                <a:solidFill>
                  <a:srgbClr val="4A4A4A"/>
                </a:solidFill>
                <a:latin typeface="Nunito Sans" pitchFamily="34" charset="0"/>
                <a:ea typeface="Nunito Sans" pitchFamily="34" charset="-122"/>
                <a:cs typeface="Nunito Sans" pitchFamily="34" charset="-120"/>
              </a:rPr>
              <a:t>Bad examples = bad patterns.</a:t>
            </a:r>
            <a:r>
              <a:rPr lang="en-US" sz="1700" dirty="0">
                <a:solidFill>
                  <a:srgbClr val="4A4A4A"/>
                </a:solidFill>
                <a:latin typeface="Nunito Sans" pitchFamily="34" charset="0"/>
                <a:ea typeface="Nunito Sans" pitchFamily="34" charset="-122"/>
                <a:cs typeface="Nunito Sans" pitchFamily="34" charset="-120"/>
              </a:rPr>
              <a:t> Every "dog" photo taken outside? It may decide outside means dog.</a:t>
            </a:r>
            <a:endParaRPr lang="en-US" sz="1700" dirty="0"/>
          </a:p>
        </p:txBody>
      </p:sp>
      <p:sp>
        <p:nvSpPr>
          <p:cNvPr id="18"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ACTIVITY 2 · 3-MINUTE LIVE DEMO · PREDICT FIRST!</a:t>
            </a:r>
            <a:endParaRPr lang="en-US" sz="1400" dirty="0"/>
          </a:p>
        </p:txBody>
      </p:sp>
      <p:sp>
        <p:nvSpPr>
          <p:cNvPr id="3" name="Text 1"/>
          <p:cNvSpPr>
            <a:spLocks noGrp="1"/>
          </p:cNvSpPr>
          <p:nvPr>
            <p:ph type="title"/>
          </p:nvPr>
        </p:nvSpPr>
        <p:spPr>
          <a:xfrm>
            <a:off x="812800" y="13156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3EE"/>
                </a:solidFill>
                <a:latin typeface="Oswald" pitchFamily="34" charset="0"/>
                <a:ea typeface="Oswald" pitchFamily="34" charset="-122"/>
                <a:cs typeface="Oswald" pitchFamily="34" charset="-120"/>
              </a:rPr>
              <a:t>CAN THE AI PASS THE BADGER TEST?</a:t>
            </a:r>
            <a:endParaRPr lang="en-US" sz="4800" dirty="0"/>
          </a:p>
        </p:txBody>
      </p:sp>
      <p:sp>
        <p:nvSpPr>
          <p:cNvPr id="4" name="Shape 2"/>
          <p:cNvSpPr/>
          <p:nvPr/>
        </p:nvSpPr>
        <p:spPr>
          <a:xfrm>
            <a:off x="812800" y="2286000"/>
            <a:ext cx="7635240" cy="2331720"/>
          </a:xfrm>
          <a:prstGeom prst="roundRect">
            <a:avLst>
              <a:gd name="adj" fmla="val 7576"/>
            </a:avLst>
          </a:prstGeom>
          <a:solidFill>
            <a:srgbClr val="242424"/>
          </a:solidFill>
          <a:ln/>
        </p:spPr>
        <p:txBody>
          <a:bodyPr/>
          <a:lstStyle/>
          <a:p>
            <a:endParaRPr lang="en-US"/>
          </a:p>
        </p:txBody>
      </p:sp>
      <p:sp>
        <p:nvSpPr>
          <p:cNvPr id="5" name="Shape 3"/>
          <p:cNvSpPr/>
          <p:nvPr/>
        </p:nvSpPr>
        <p:spPr>
          <a:xfrm>
            <a:off x="812902" y="2286000"/>
            <a:ext cx="7635240" cy="2331720"/>
          </a:xfrm>
          <a:custGeom>
            <a:avLst/>
            <a:gdLst/>
            <a:ahLst/>
            <a:cxnLst/>
            <a:rect l="l" t="t" r="r" b="b"/>
            <a:pathLst>
              <a:path w="7635240" h="2331720">
                <a:moveTo>
                  <a:pt x="152400" y="2331720"/>
                </a:moveTo>
                <a:lnTo>
                  <a:pt x="152400" y="2331720"/>
                </a:lnTo>
                <a:arcTo wR="152400" hR="152400" stAng="5400000" swAng="5400000"/>
                <a:lnTo>
                  <a:pt x="0" y="152400"/>
                </a:lnTo>
                <a:arcTo wR="152400" hR="152400" stAng="10800000" swAng="5400000"/>
                <a:lnTo>
                  <a:pt x="152400" y="0"/>
                </a:lnTo>
                <a:arcTo wR="76200" hR="152400" stAng="16200000" swAng="-5400000"/>
                <a:lnTo>
                  <a:pt x="76200" y="2179320"/>
                </a:lnTo>
                <a:arcTo wR="76200" hR="152400" stAng="10800000" swAng="-5400000"/>
                <a:close/>
              </a:path>
            </a:pathLst>
          </a:custGeom>
          <a:solidFill>
            <a:srgbClr val="D21F2B"/>
          </a:solidFill>
          <a:ln/>
        </p:spPr>
        <p:txBody>
          <a:bodyPr/>
          <a:lstStyle/>
          <a:p>
            <a:endParaRPr lang="en-US"/>
          </a:p>
        </p:txBody>
      </p:sp>
      <p:sp>
        <p:nvSpPr>
          <p:cNvPr id="6" name="Text 4"/>
          <p:cNvSpPr/>
          <p:nvPr/>
        </p:nvSpPr>
        <p:spPr>
          <a:xfrm>
            <a:off x="1193800" y="2560320"/>
            <a:ext cx="6949440"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8F8A82"/>
                </a:solidFill>
                <a:latin typeface="Nunito Sans" pitchFamily="34" charset="0"/>
                <a:ea typeface="Nunito Sans" pitchFamily="34" charset="-122"/>
                <a:cs typeface="Nunito Sans" pitchFamily="34" charset="-120"/>
              </a:rPr>
              <a:t>I WILL ASK THE AI</a:t>
            </a:r>
            <a:endParaRPr lang="en-US" sz="1400" dirty="0"/>
          </a:p>
        </p:txBody>
      </p:sp>
      <p:sp>
        <p:nvSpPr>
          <p:cNvPr id="7" name="Text 5"/>
          <p:cNvSpPr/>
          <p:nvPr/>
        </p:nvSpPr>
        <p:spPr>
          <a:xfrm>
            <a:off x="1193800" y="2944368"/>
            <a:ext cx="6949440" cy="15087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F6F3EE"/>
                </a:solidFill>
                <a:latin typeface="Oswald" pitchFamily="34" charset="0"/>
                <a:ea typeface="Oswald" pitchFamily="34" charset="-122"/>
                <a:cs typeface="Oswald" pitchFamily="34" charset="-120"/>
              </a:rPr>
              <a:t>"Tell me about the famous Badger Bridge at Ed Willkie Middle School, built in 1901."</a:t>
            </a:r>
            <a:endParaRPr lang="en-US" sz="3200" dirty="0"/>
          </a:p>
        </p:txBody>
      </p:sp>
      <p:sp>
        <p:nvSpPr>
          <p:cNvPr id="8" name="Shape 6"/>
          <p:cNvSpPr/>
          <p:nvPr/>
        </p:nvSpPr>
        <p:spPr>
          <a:xfrm>
            <a:off x="812902" y="4846320"/>
            <a:ext cx="3703320" cy="914400"/>
          </a:xfrm>
          <a:prstGeom prst="roundRect">
            <a:avLst>
              <a:gd name="adj" fmla="val 16667"/>
            </a:avLst>
          </a:prstGeom>
          <a:solidFill>
            <a:srgbClr val="242424"/>
          </a:solidFill>
          <a:ln/>
        </p:spPr>
        <p:txBody>
          <a:bodyPr/>
          <a:lstStyle/>
          <a:p>
            <a:endParaRPr lang="en-US"/>
          </a:p>
        </p:txBody>
      </p:sp>
      <p:pic>
        <p:nvPicPr>
          <p:cNvPr id="9" name="Image 0" descr="ThumbsUp"/>
          <p:cNvPicPr>
            <a:picLocks noChangeAspect="1"/>
          </p:cNvPicPr>
          <p:nvPr/>
        </p:nvPicPr>
        <p:blipFill>
          <a:blip r:embed="rId3"/>
          <a:srcRect/>
          <a:stretch/>
        </p:blipFill>
        <p:spPr>
          <a:xfrm>
            <a:off x="1068934" y="5125212"/>
            <a:ext cx="355600" cy="355600"/>
          </a:xfrm>
          <a:prstGeom prst="rect">
            <a:avLst/>
          </a:prstGeom>
        </p:spPr>
      </p:pic>
      <p:sp>
        <p:nvSpPr>
          <p:cNvPr id="10" name="Text 7"/>
          <p:cNvSpPr/>
          <p:nvPr/>
        </p:nvSpPr>
        <p:spPr>
          <a:xfrm>
            <a:off x="1571854" y="4956048"/>
            <a:ext cx="2834640" cy="694944"/>
          </a:xfrm>
          <a:prstGeom prst="rect">
            <a:avLst/>
          </a:prstGeom>
          <a:noFill/>
          <a:ln/>
        </p:spPr>
        <p:txBody>
          <a:bodyPr wrap="square" lIns="0" tIns="0" rIns="0" bIns="0" rtlCol="0" anchor="ctr">
            <a:normAutofit/>
          </a:bodyPr>
          <a:lstStyle/>
          <a:p>
            <a:pPr marL="0" indent="0" algn="l">
              <a:lnSpc>
                <a:spcPts val="2210"/>
              </a:lnSpc>
              <a:buNone/>
            </a:pPr>
            <a:r>
              <a:rPr lang="en-US" sz="1700" dirty="0">
                <a:solidFill>
                  <a:srgbClr val="F6F3EE"/>
                </a:solidFill>
                <a:latin typeface="Nunito Sans" pitchFamily="34" charset="0"/>
                <a:ea typeface="Nunito Sans" pitchFamily="34" charset="-122"/>
                <a:cs typeface="Nunito Sans" pitchFamily="34" charset="-120"/>
              </a:rPr>
              <a:t>Thumbs up: it will admit it doesn't know</a:t>
            </a:r>
            <a:endParaRPr lang="en-US" sz="1700" dirty="0"/>
          </a:p>
        </p:txBody>
      </p:sp>
      <p:sp>
        <p:nvSpPr>
          <p:cNvPr id="11" name="Shape 8"/>
          <p:cNvSpPr/>
          <p:nvPr/>
        </p:nvSpPr>
        <p:spPr>
          <a:xfrm>
            <a:off x="4744822" y="4846320"/>
            <a:ext cx="3703320" cy="914400"/>
          </a:xfrm>
          <a:prstGeom prst="roundRect">
            <a:avLst>
              <a:gd name="adj" fmla="val 16667"/>
            </a:avLst>
          </a:prstGeom>
          <a:solidFill>
            <a:srgbClr val="242424"/>
          </a:solidFill>
          <a:ln/>
        </p:spPr>
        <p:txBody>
          <a:bodyPr/>
          <a:lstStyle/>
          <a:p>
            <a:endParaRPr lang="en-US"/>
          </a:p>
        </p:txBody>
      </p:sp>
      <p:pic>
        <p:nvPicPr>
          <p:cNvPr id="12" name="Image 1" descr="Warning"/>
          <p:cNvPicPr>
            <a:picLocks noChangeAspect="1"/>
          </p:cNvPicPr>
          <p:nvPr/>
        </p:nvPicPr>
        <p:blipFill>
          <a:blip r:embed="rId4"/>
          <a:srcRect/>
          <a:stretch/>
        </p:blipFill>
        <p:spPr>
          <a:xfrm>
            <a:off x="5000854" y="5125212"/>
            <a:ext cx="355600" cy="355600"/>
          </a:xfrm>
          <a:prstGeom prst="rect">
            <a:avLst/>
          </a:prstGeom>
        </p:spPr>
      </p:pic>
      <p:sp>
        <p:nvSpPr>
          <p:cNvPr id="13" name="Text 9"/>
          <p:cNvSpPr/>
          <p:nvPr/>
        </p:nvSpPr>
        <p:spPr>
          <a:xfrm>
            <a:off x="5503774" y="4956048"/>
            <a:ext cx="2834640" cy="694944"/>
          </a:xfrm>
          <a:prstGeom prst="rect">
            <a:avLst/>
          </a:prstGeom>
          <a:noFill/>
          <a:ln/>
        </p:spPr>
        <p:txBody>
          <a:bodyPr wrap="square" lIns="0" tIns="0" rIns="0" bIns="0" rtlCol="0" anchor="ctr">
            <a:normAutofit/>
          </a:bodyPr>
          <a:lstStyle/>
          <a:p>
            <a:pPr marL="0" indent="0" algn="l">
              <a:lnSpc>
                <a:spcPts val="2210"/>
              </a:lnSpc>
              <a:buNone/>
            </a:pPr>
            <a:r>
              <a:rPr lang="en-US" sz="1700" dirty="0">
                <a:solidFill>
                  <a:srgbClr val="F6F3EE"/>
                </a:solidFill>
                <a:latin typeface="Nunito Sans" pitchFamily="34" charset="0"/>
                <a:ea typeface="Nunito Sans" pitchFamily="34" charset="-122"/>
                <a:cs typeface="Nunito Sans" pitchFamily="34" charset="-120"/>
              </a:rPr>
              <a:t>Thumbs down: it will make something up</a:t>
            </a:r>
            <a:endParaRPr lang="en-US" sz="17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
        <p:nvSpPr>
          <p:cNvPr id="503" name="QR card"/>
          <p:cNvSpPr/>
          <p:nvPr/>
        </p:nvSpPr>
        <p:spPr>
          <a:xfrm>
            <a:off x="8641080" y="2286000"/>
            <a:ext cx="2734056" cy="3474720"/>
          </a:xfrm>
          <a:prstGeom prst="roundRect">
            <a:avLst>
              <a:gd name="adj" fmla="val 7576"/>
            </a:avLst>
          </a:prstGeom>
          <a:solidFill>
            <a:srgbClr val="242424"/>
          </a:solidFill>
          <a:ln/>
        </p:spPr>
        <p:txBody>
          <a:bodyPr/>
          <a:lstStyle/>
          <a:p>
            <a:endParaRPr lang="en-US"/>
          </a:p>
        </p:txBody>
      </p:sp>
      <p:sp>
        <p:nvSpPr>
          <p:cNvPr id="504" name="QR kicker"/>
          <p:cNvSpPr txBox="1"/>
          <p:nvPr/>
        </p:nvSpPr>
        <p:spPr>
          <a:xfrm>
            <a:off x="8641080" y="2542032"/>
            <a:ext cx="2734056" cy="274320"/>
          </a:xfrm>
          <a:prstGeom prst="rect">
            <a:avLst/>
          </a:prstGeom>
          <a:noFill/>
          <a:ln/>
        </p:spPr>
        <p:txBody>
          <a:bodyPr wrap="square" lIns="0" tIns="0" rIns="0" bIns="0" rtlCol="0" anchor="t">
            <a:normAutofit/>
          </a:bodyPr>
          <a:lstStyle/>
          <a:p>
            <a:pPr marL="0" indent="0" algn="ctr">
              <a:buNone/>
            </a:pPr>
            <a:r>
              <a:rPr lang="en-US" sz="1400" b="1" spc="100" dirty="0">
                <a:solidFill>
                  <a:srgbClr val="8F8A82"/>
                </a:solidFill>
                <a:latin typeface="Nunito Sans" pitchFamily="34" charset="0"/>
                <a:ea typeface="Nunito Sans" pitchFamily="34" charset="-122"/>
                <a:cs typeface="Nunito Sans" pitchFamily="34" charset="-120"/>
              </a:rPr>
              <a:t>TRY IT ON YOUR PHONE</a:t>
            </a:r>
          </a:p>
        </p:txBody>
      </p:sp>
      <p:sp>
        <p:nvSpPr>
          <p:cNvPr id="505" name="QR frame"/>
          <p:cNvSpPr/>
          <p:nvPr/>
        </p:nvSpPr>
        <p:spPr>
          <a:xfrm>
            <a:off x="9047988" y="2834640"/>
            <a:ext cx="1920240" cy="1920240"/>
          </a:xfrm>
          <a:prstGeom prst="roundRect">
            <a:avLst>
              <a:gd name="adj" fmla="val 4000"/>
            </a:avLst>
          </a:prstGeom>
          <a:solidFill>
            <a:srgbClr val="FFFFFF"/>
          </a:solidFill>
          <a:ln/>
        </p:spPr>
        <p:txBody>
          <a:bodyPr/>
          <a:lstStyle/>
          <a:p>
            <a:endParaRPr lang="en-US"/>
          </a:p>
        </p:txBody>
      </p:sp>
      <p:pic>
        <p:nvPicPr>
          <p:cNvPr id="506" name="ChatQr 9" descr="QR code for the Willkie Badger AI chat page"/>
          <p:cNvPicPr>
            <a:picLocks noChangeAspect="1"/>
          </p:cNvPicPr>
          <p:nvPr/>
        </p:nvPicPr>
        <p:blipFill>
          <a:blip r:embed="rId5"/>
          <a:stretch>
            <a:fillRect/>
          </a:stretch>
        </p:blipFill>
        <p:spPr>
          <a:xfrm>
            <a:off x="9093708" y="2880360"/>
            <a:ext cx="1828800" cy="1828800"/>
          </a:xfrm>
          <a:prstGeom prst="rect">
            <a:avLst/>
          </a:prstGeom>
        </p:spPr>
      </p:pic>
      <p:sp>
        <p:nvSpPr>
          <p:cNvPr id="507" name="QR name"/>
          <p:cNvSpPr txBox="1"/>
          <p:nvPr/>
        </p:nvSpPr>
        <p:spPr>
          <a:xfrm>
            <a:off x="8641080" y="4846320"/>
            <a:ext cx="2734056" cy="274320"/>
          </a:xfrm>
          <a:prstGeom prst="rect">
            <a:avLst/>
          </a:prstGeom>
          <a:noFill/>
          <a:ln/>
        </p:spPr>
        <p:txBody>
          <a:bodyPr wrap="square" lIns="0" tIns="0" rIns="0" bIns="0" rtlCol="0" anchor="t">
            <a:normAutofit/>
          </a:bodyPr>
          <a:lstStyle/>
          <a:p>
            <a:pPr marL="0" indent="0" algn="ctr">
              <a:buNone/>
            </a:pPr>
            <a:r>
              <a:rPr lang="en-US" sz="1400" b="1" spc="100" dirty="0">
                <a:solidFill>
                  <a:srgbClr val="F6F3EE"/>
                </a:solidFill>
                <a:latin typeface="Nunito Sans" pitchFamily="34" charset="0"/>
                <a:ea typeface="Nunito Sans" pitchFamily="34" charset="-122"/>
                <a:cs typeface="Nunito Sans" pitchFamily="34" charset="-120"/>
              </a:rPr>
              <a:t>WILLKIE BADGER AI</a:t>
            </a:r>
          </a:p>
        </p:txBody>
      </p:sp>
      <p:sp>
        <p:nvSpPr>
          <p:cNvPr id="508" name="ChatUrl 9"/>
          <p:cNvSpPr txBox="1"/>
          <p:nvPr/>
        </p:nvSpPr>
        <p:spPr>
          <a:xfrm>
            <a:off x="8732520" y="5138928"/>
            <a:ext cx="2551176" cy="548640"/>
          </a:xfrm>
          <a:prstGeom prst="rect">
            <a:avLst/>
          </a:prstGeom>
          <a:noFill/>
          <a:ln/>
        </p:spPr>
        <p:txBody>
          <a:bodyPr wrap="square" lIns="0" tIns="0" rIns="0" bIns="0" rtlCol="0" anchor="t">
            <a:normAutofit/>
          </a:bodyPr>
          <a:lstStyle/>
          <a:p>
            <a:pPr marL="0" indent="0" algn="ctr">
              <a:buNone/>
            </a:pPr>
            <a:r>
              <a:rPr lang="en-US" sz="1200" dirty="0">
                <a:solidFill>
                  <a:srgbClr val="F6F3EE"/>
                </a:solidFill>
                <a:latin typeface="Nunito Sans" pitchFamily="34" charset="0"/>
                <a:ea typeface="Nunito Sans" pitchFamily="34" charset="-122"/>
                <a:cs typeface="Nunito Sans" pitchFamily="34" charset="-120"/>
              </a:rPr>
              <a:t>YOUR-CLOUD-RUN-URL.a.run.app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VOLUNTEER: PUT THESE IN ORDER</a:t>
            </a:r>
            <a:endParaRPr lang="en-US" sz="1400" dirty="0"/>
          </a:p>
        </p:txBody>
      </p:sp>
      <p:sp>
        <p:nvSpPr>
          <p:cNvPr id="3" name="Text 1"/>
          <p:cNvSpPr>
            <a:spLocks noGrp="1"/>
          </p:cNvSpPr>
          <p:nvPr>
            <p:ph type="title"/>
          </p:nvPr>
        </p:nvSpPr>
        <p:spPr>
          <a:xfrm>
            <a:off x="812800" y="1366441"/>
            <a:ext cx="10883392" cy="130552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A DAY IN MY LIFE: FOUR THINGS, THEN REPEAT</a:t>
            </a:r>
            <a:endParaRPr lang="en-US" sz="4800" dirty="0"/>
          </a:p>
        </p:txBody>
      </p:sp>
      <p:sp>
        <p:nvSpPr>
          <p:cNvPr id="4" name="Shape 2"/>
          <p:cNvSpPr/>
          <p:nvPr/>
        </p:nvSpPr>
        <p:spPr>
          <a:xfrm>
            <a:off x="819150" y="3182938"/>
            <a:ext cx="2101850" cy="1831181"/>
          </a:xfrm>
          <a:prstGeom prst="roundRect">
            <a:avLst>
              <a:gd name="adj" fmla="val 7976"/>
            </a:avLst>
          </a:prstGeom>
          <a:solidFill>
            <a:srgbClr val="FFFFFF"/>
          </a:solidFill>
          <a:ln w="12700">
            <a:solidFill>
              <a:srgbClr val="E4DED5"/>
            </a:solidFill>
            <a:prstDash val="solid"/>
          </a:ln>
        </p:spPr>
        <p:txBody>
          <a:bodyPr/>
          <a:lstStyle/>
          <a:p>
            <a:endParaRPr lang="en-US"/>
          </a:p>
        </p:txBody>
      </p:sp>
      <p:pic>
        <p:nvPicPr>
          <p:cNvPr id="5" name="Image 0" descr="Users"/>
          <p:cNvPicPr>
            <a:picLocks noChangeAspect="1"/>
          </p:cNvPicPr>
          <p:nvPr/>
        </p:nvPicPr>
        <p:blipFill>
          <a:blip r:embed="rId3"/>
          <a:srcRect/>
          <a:stretch/>
        </p:blipFill>
        <p:spPr>
          <a:xfrm>
            <a:off x="1590675" y="3468688"/>
            <a:ext cx="558800" cy="558800"/>
          </a:xfrm>
          <a:prstGeom prst="rect">
            <a:avLst/>
          </a:prstGeom>
        </p:spPr>
      </p:pic>
      <p:sp>
        <p:nvSpPr>
          <p:cNvPr id="6" name="Text 3"/>
          <p:cNvSpPr/>
          <p:nvPr/>
        </p:nvSpPr>
        <p:spPr>
          <a:xfrm>
            <a:off x="977297" y="4179888"/>
            <a:ext cx="1785557" cy="573881"/>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61616"/>
                </a:solidFill>
                <a:latin typeface="Nunito Sans" pitchFamily="34" charset="0"/>
                <a:ea typeface="Nunito Sans" pitchFamily="34" charset="-122"/>
                <a:cs typeface="Nunito Sans" pitchFamily="34" charset="-120"/>
              </a:rPr>
              <a:t>Ask people what they need</a:t>
            </a:r>
            <a:endParaRPr lang="en-US" sz="1800" dirty="0"/>
          </a:p>
        </p:txBody>
      </p:sp>
      <p:pic>
        <p:nvPicPr>
          <p:cNvPr id="7" name="Image 1" descr="arrow-right"/>
          <p:cNvPicPr>
            <a:picLocks noChangeAspect="1"/>
          </p:cNvPicPr>
          <p:nvPr/>
        </p:nvPicPr>
        <p:blipFill>
          <a:blip r:embed="rId4"/>
          <a:srcRect/>
          <a:stretch/>
        </p:blipFill>
        <p:spPr>
          <a:xfrm>
            <a:off x="3054350" y="3984228"/>
            <a:ext cx="457200" cy="228600"/>
          </a:xfrm>
          <a:prstGeom prst="rect">
            <a:avLst/>
          </a:prstGeom>
        </p:spPr>
      </p:pic>
      <p:sp>
        <p:nvSpPr>
          <p:cNvPr id="8" name="Shape 4"/>
          <p:cNvSpPr/>
          <p:nvPr/>
        </p:nvSpPr>
        <p:spPr>
          <a:xfrm>
            <a:off x="3644900" y="3320058"/>
            <a:ext cx="2101850" cy="1556941"/>
          </a:xfrm>
          <a:prstGeom prst="roundRect">
            <a:avLst>
              <a:gd name="adj" fmla="val 9381"/>
            </a:avLst>
          </a:prstGeom>
          <a:solidFill>
            <a:srgbClr val="FFFFFF"/>
          </a:solidFill>
          <a:ln w="12700">
            <a:solidFill>
              <a:srgbClr val="E4DED5"/>
            </a:solidFill>
            <a:prstDash val="solid"/>
          </a:ln>
        </p:spPr>
        <p:txBody>
          <a:bodyPr/>
          <a:lstStyle/>
          <a:p>
            <a:endParaRPr lang="en-US"/>
          </a:p>
        </p:txBody>
      </p:sp>
      <p:pic>
        <p:nvPicPr>
          <p:cNvPr id="9" name="Image 2" descr="Tool"/>
          <p:cNvPicPr>
            <a:picLocks noChangeAspect="1"/>
          </p:cNvPicPr>
          <p:nvPr/>
        </p:nvPicPr>
        <p:blipFill>
          <a:blip r:embed="rId5"/>
          <a:srcRect/>
          <a:stretch/>
        </p:blipFill>
        <p:spPr>
          <a:xfrm>
            <a:off x="4416425" y="3605808"/>
            <a:ext cx="558800" cy="558800"/>
          </a:xfrm>
          <a:prstGeom prst="rect">
            <a:avLst/>
          </a:prstGeom>
        </p:spPr>
      </p:pic>
      <p:sp>
        <p:nvSpPr>
          <p:cNvPr id="10" name="Text 5"/>
          <p:cNvSpPr/>
          <p:nvPr/>
        </p:nvSpPr>
        <p:spPr>
          <a:xfrm>
            <a:off x="3784173" y="4317008"/>
            <a:ext cx="1823204" cy="299641"/>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61616"/>
                </a:solidFill>
                <a:latin typeface="Nunito Sans" pitchFamily="34" charset="0"/>
                <a:ea typeface="Nunito Sans" pitchFamily="34" charset="-122"/>
                <a:cs typeface="Nunito Sans" pitchFamily="34" charset="-120"/>
              </a:rPr>
              <a:t>Draw the plan</a:t>
            </a:r>
            <a:endParaRPr lang="en-US" sz="1800" dirty="0"/>
          </a:p>
        </p:txBody>
      </p:sp>
      <p:pic>
        <p:nvPicPr>
          <p:cNvPr id="11" name="Image 3" descr="arrow-right"/>
          <p:cNvPicPr>
            <a:picLocks noChangeAspect="1"/>
          </p:cNvPicPr>
          <p:nvPr/>
        </p:nvPicPr>
        <p:blipFill>
          <a:blip r:embed="rId4"/>
          <a:srcRect/>
          <a:stretch/>
        </p:blipFill>
        <p:spPr>
          <a:xfrm>
            <a:off x="5880100" y="3984228"/>
            <a:ext cx="457200" cy="228600"/>
          </a:xfrm>
          <a:prstGeom prst="rect">
            <a:avLst/>
          </a:prstGeom>
        </p:spPr>
      </p:pic>
      <p:sp>
        <p:nvSpPr>
          <p:cNvPr id="12" name="Shape 6"/>
          <p:cNvSpPr/>
          <p:nvPr/>
        </p:nvSpPr>
        <p:spPr>
          <a:xfrm>
            <a:off x="6470650" y="3182938"/>
            <a:ext cx="2101850" cy="1831181"/>
          </a:xfrm>
          <a:prstGeom prst="roundRect">
            <a:avLst>
              <a:gd name="adj" fmla="val 7976"/>
            </a:avLst>
          </a:prstGeom>
          <a:solidFill>
            <a:srgbClr val="FFFFFF"/>
          </a:solidFill>
          <a:ln w="12700">
            <a:solidFill>
              <a:srgbClr val="E4DED5"/>
            </a:solidFill>
            <a:prstDash val="solid"/>
          </a:ln>
        </p:spPr>
        <p:txBody>
          <a:bodyPr/>
          <a:lstStyle/>
          <a:p>
            <a:endParaRPr lang="en-US"/>
          </a:p>
        </p:txBody>
      </p:sp>
      <p:pic>
        <p:nvPicPr>
          <p:cNvPr id="13" name="Image 4" descr="Wrench"/>
          <p:cNvPicPr>
            <a:picLocks noChangeAspect="1"/>
          </p:cNvPicPr>
          <p:nvPr/>
        </p:nvPicPr>
        <p:blipFill>
          <a:blip r:embed="rId6"/>
          <a:srcRect/>
          <a:stretch/>
        </p:blipFill>
        <p:spPr>
          <a:xfrm>
            <a:off x="7242175" y="3468688"/>
            <a:ext cx="558800" cy="558800"/>
          </a:xfrm>
          <a:prstGeom prst="rect">
            <a:avLst/>
          </a:prstGeom>
        </p:spPr>
      </p:pic>
      <p:sp>
        <p:nvSpPr>
          <p:cNvPr id="14" name="Text 7"/>
          <p:cNvSpPr/>
          <p:nvPr/>
        </p:nvSpPr>
        <p:spPr>
          <a:xfrm>
            <a:off x="6628797" y="4179888"/>
            <a:ext cx="1785557" cy="573881"/>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61616"/>
                </a:solidFill>
                <a:latin typeface="Nunito Sans" pitchFamily="34" charset="0"/>
                <a:ea typeface="Nunito Sans" pitchFamily="34" charset="-122"/>
                <a:cs typeface="Nunito Sans" pitchFamily="34" charset="-120"/>
              </a:rPr>
              <a:t>Test it, fix what breaks</a:t>
            </a:r>
            <a:endParaRPr lang="en-US" sz="1800" dirty="0"/>
          </a:p>
        </p:txBody>
      </p:sp>
      <p:pic>
        <p:nvPicPr>
          <p:cNvPr id="15" name="Image 5" descr="arrow-right"/>
          <p:cNvPicPr>
            <a:picLocks noChangeAspect="1"/>
          </p:cNvPicPr>
          <p:nvPr/>
        </p:nvPicPr>
        <p:blipFill>
          <a:blip r:embed="rId4"/>
          <a:srcRect/>
          <a:stretch/>
        </p:blipFill>
        <p:spPr>
          <a:xfrm>
            <a:off x="8705850" y="3984228"/>
            <a:ext cx="457200" cy="228600"/>
          </a:xfrm>
          <a:prstGeom prst="rect">
            <a:avLst/>
          </a:prstGeom>
        </p:spPr>
      </p:pic>
      <p:sp>
        <p:nvSpPr>
          <p:cNvPr id="16" name="Shape 8"/>
          <p:cNvSpPr/>
          <p:nvPr/>
        </p:nvSpPr>
        <p:spPr>
          <a:xfrm>
            <a:off x="9290050" y="3189288"/>
            <a:ext cx="2089150" cy="1818481"/>
          </a:xfrm>
          <a:prstGeom prst="roundRect">
            <a:avLst>
              <a:gd name="adj" fmla="val 8381"/>
            </a:avLst>
          </a:prstGeom>
          <a:solidFill>
            <a:srgbClr val="161616"/>
          </a:solidFill>
          <a:ln/>
        </p:spPr>
        <p:txBody>
          <a:bodyPr/>
          <a:lstStyle/>
          <a:p>
            <a:endParaRPr lang="en-US"/>
          </a:p>
        </p:txBody>
      </p:sp>
      <p:pic>
        <p:nvPicPr>
          <p:cNvPr id="17" name="Image 6" descr="Chat"/>
          <p:cNvPicPr>
            <a:picLocks noChangeAspect="1"/>
          </p:cNvPicPr>
          <p:nvPr/>
        </p:nvPicPr>
        <p:blipFill>
          <a:blip r:embed="rId7"/>
          <a:srcRect/>
          <a:stretch/>
        </p:blipFill>
        <p:spPr>
          <a:xfrm>
            <a:off x="10055225" y="3468688"/>
            <a:ext cx="558800" cy="558800"/>
          </a:xfrm>
          <a:prstGeom prst="rect">
            <a:avLst/>
          </a:prstGeom>
        </p:spPr>
      </p:pic>
      <p:sp>
        <p:nvSpPr>
          <p:cNvPr id="18" name="Text 9"/>
          <p:cNvSpPr/>
          <p:nvPr/>
        </p:nvSpPr>
        <p:spPr>
          <a:xfrm>
            <a:off x="9441847" y="4179888"/>
            <a:ext cx="1785557" cy="573881"/>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F6F3EE"/>
                </a:solidFill>
                <a:latin typeface="Nunito Sans" pitchFamily="34" charset="0"/>
                <a:ea typeface="Nunito Sans" pitchFamily="34" charset="-122"/>
                <a:cs typeface="Nunito Sans" pitchFamily="34" charset="-120"/>
              </a:rPr>
              <a:t>Explain it so everyone gets it</a:t>
            </a:r>
            <a:endParaRPr lang="en-US" sz="1800" dirty="0"/>
          </a:p>
        </p:txBody>
      </p:sp>
      <p:sp>
        <p:nvSpPr>
          <p:cNvPr id="19" name="Text 10"/>
          <p:cNvSpPr/>
          <p:nvPr/>
        </p:nvSpPr>
        <p:spPr>
          <a:xfrm>
            <a:off x="812800" y="5550595"/>
            <a:ext cx="10883392"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4A4A4A"/>
                </a:solidFill>
                <a:latin typeface="Nunito Sans" pitchFamily="34" charset="0"/>
                <a:ea typeface="Nunito Sans" pitchFamily="34" charset="-122"/>
                <a:cs typeface="Nunito Sans" pitchFamily="34" charset="-120"/>
              </a:rPr>
              <a:t>Missing from the list: "type code for eight hours."</a:t>
            </a:r>
            <a:endParaRPr lang="en-US" sz="1700" dirty="0"/>
          </a:p>
        </p:txBody>
      </p:sp>
      <p:sp>
        <p:nvSpPr>
          <p:cNvPr id="20"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ACTIVITY 3 · GREEN CARD = TRUST IT · RED CARD = CHECK IT OR STOP</a:t>
            </a:r>
            <a:endParaRPr lang="en-US" sz="1400" dirty="0"/>
          </a:p>
        </p:txBody>
      </p:sp>
      <p:sp>
        <p:nvSpPr>
          <p:cNvPr id="3" name="Text 1"/>
          <p:cNvSpPr>
            <a:spLocks noGrp="1"/>
          </p:cNvSpPr>
          <p:nvPr>
            <p:ph type="title"/>
          </p:nvPr>
        </p:nvSpPr>
        <p:spPr>
          <a:xfrm>
            <a:off x="812800" y="13156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TRUST IT OR CHECK IT?</a:t>
            </a:r>
            <a:endParaRPr lang="en-US" sz="4800" dirty="0"/>
          </a:p>
        </p:txBody>
      </p:sp>
      <p:sp>
        <p:nvSpPr>
          <p:cNvPr id="4" name="Shape 2"/>
          <p:cNvSpPr/>
          <p:nvPr/>
        </p:nvSpPr>
        <p:spPr>
          <a:xfrm>
            <a:off x="819150" y="2216051"/>
            <a:ext cx="3390900" cy="1714500"/>
          </a:xfrm>
          <a:prstGeom prst="roundRect">
            <a:avLst>
              <a:gd name="adj" fmla="val 7037"/>
            </a:avLst>
          </a:prstGeom>
          <a:solidFill>
            <a:srgbClr val="FFFFFF"/>
          </a:solidFill>
          <a:ln w="12700">
            <a:solidFill>
              <a:srgbClr val="E4DED5"/>
            </a:solidFill>
            <a:prstDash val="solid"/>
          </a:ln>
        </p:spPr>
        <p:txBody>
          <a:bodyPr/>
          <a:lstStyle/>
          <a:p>
            <a:endParaRPr lang="en-US"/>
          </a:p>
        </p:txBody>
      </p:sp>
      <p:sp>
        <p:nvSpPr>
          <p:cNvPr id="5" name="Text 3"/>
          <p:cNvSpPr/>
          <p:nvPr/>
        </p:nvSpPr>
        <p:spPr>
          <a:xfrm>
            <a:off x="1054100" y="2451001"/>
            <a:ext cx="300863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D21F2B"/>
                </a:solidFill>
                <a:latin typeface="Oswald" pitchFamily="34" charset="0"/>
                <a:ea typeface="Oswald" pitchFamily="34" charset="-122"/>
                <a:cs typeface="Oswald" pitchFamily="34" charset="-120"/>
              </a:rPr>
              <a:t>1</a:t>
            </a:r>
            <a:endParaRPr lang="en-US" sz="2800" dirty="0"/>
          </a:p>
        </p:txBody>
      </p:sp>
      <p:sp>
        <p:nvSpPr>
          <p:cNvPr id="6" name="Text 4"/>
          <p:cNvSpPr/>
          <p:nvPr/>
        </p:nvSpPr>
        <p:spPr>
          <a:xfrm>
            <a:off x="1054100" y="2908201"/>
            <a:ext cx="3008630"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tells you the capital of Texas</a:t>
            </a:r>
            <a:endParaRPr lang="en-US" sz="1700" dirty="0"/>
          </a:p>
        </p:txBody>
      </p:sp>
      <p:sp>
        <p:nvSpPr>
          <p:cNvPr id="7" name="Shape 5"/>
          <p:cNvSpPr/>
          <p:nvPr/>
        </p:nvSpPr>
        <p:spPr>
          <a:xfrm>
            <a:off x="4400550" y="2216051"/>
            <a:ext cx="3390900" cy="1714500"/>
          </a:xfrm>
          <a:prstGeom prst="roundRect">
            <a:avLst>
              <a:gd name="adj" fmla="val 7037"/>
            </a:avLst>
          </a:prstGeom>
          <a:solidFill>
            <a:srgbClr val="FFFFFF"/>
          </a:solidFill>
          <a:ln w="12700">
            <a:solidFill>
              <a:srgbClr val="E4DED5"/>
            </a:solidFill>
            <a:prstDash val="solid"/>
          </a:ln>
        </p:spPr>
        <p:txBody>
          <a:bodyPr/>
          <a:lstStyle/>
          <a:p>
            <a:endParaRPr lang="en-US"/>
          </a:p>
        </p:txBody>
      </p:sp>
      <p:sp>
        <p:nvSpPr>
          <p:cNvPr id="8" name="Text 6"/>
          <p:cNvSpPr/>
          <p:nvPr/>
        </p:nvSpPr>
        <p:spPr>
          <a:xfrm>
            <a:off x="4635500" y="2451001"/>
            <a:ext cx="300863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D21F2B"/>
                </a:solidFill>
                <a:latin typeface="Oswald" pitchFamily="34" charset="0"/>
                <a:ea typeface="Oswald" pitchFamily="34" charset="-122"/>
                <a:cs typeface="Oswald" pitchFamily="34" charset="-120"/>
              </a:rPr>
              <a:t>2</a:t>
            </a:r>
            <a:endParaRPr lang="en-US" sz="2800" dirty="0"/>
          </a:p>
        </p:txBody>
      </p:sp>
      <p:sp>
        <p:nvSpPr>
          <p:cNvPr id="9" name="Text 7"/>
          <p:cNvSpPr/>
          <p:nvPr/>
        </p:nvSpPr>
        <p:spPr>
          <a:xfrm>
            <a:off x="4635500" y="2908201"/>
            <a:ext cx="3008630"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tells you how much medicine to take</a:t>
            </a:r>
            <a:endParaRPr lang="en-US" sz="1700" dirty="0"/>
          </a:p>
        </p:txBody>
      </p:sp>
      <p:sp>
        <p:nvSpPr>
          <p:cNvPr id="10" name="Shape 8"/>
          <p:cNvSpPr/>
          <p:nvPr/>
        </p:nvSpPr>
        <p:spPr>
          <a:xfrm>
            <a:off x="7981950" y="2216051"/>
            <a:ext cx="3390900" cy="1714500"/>
          </a:xfrm>
          <a:prstGeom prst="roundRect">
            <a:avLst>
              <a:gd name="adj" fmla="val 7037"/>
            </a:avLst>
          </a:prstGeom>
          <a:solidFill>
            <a:srgbClr val="FFFFFF"/>
          </a:solidFill>
          <a:ln w="12700">
            <a:solidFill>
              <a:srgbClr val="E4DED5"/>
            </a:solidFill>
            <a:prstDash val="solid"/>
          </a:ln>
        </p:spPr>
        <p:txBody>
          <a:bodyPr/>
          <a:lstStyle/>
          <a:p>
            <a:endParaRPr lang="en-US"/>
          </a:p>
        </p:txBody>
      </p:sp>
      <p:sp>
        <p:nvSpPr>
          <p:cNvPr id="11" name="Text 9"/>
          <p:cNvSpPr/>
          <p:nvPr/>
        </p:nvSpPr>
        <p:spPr>
          <a:xfrm>
            <a:off x="8216900" y="2451001"/>
            <a:ext cx="300863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D21F2B"/>
                </a:solidFill>
                <a:latin typeface="Oswald" pitchFamily="34" charset="0"/>
                <a:ea typeface="Oswald" pitchFamily="34" charset="-122"/>
                <a:cs typeface="Oswald" pitchFamily="34" charset="-120"/>
              </a:rPr>
              <a:t>3</a:t>
            </a:r>
            <a:endParaRPr lang="en-US" sz="2800" dirty="0"/>
          </a:p>
        </p:txBody>
      </p:sp>
      <p:sp>
        <p:nvSpPr>
          <p:cNvPr id="12" name="Text 10"/>
          <p:cNvSpPr/>
          <p:nvPr/>
        </p:nvSpPr>
        <p:spPr>
          <a:xfrm>
            <a:off x="8216900" y="2908201"/>
            <a:ext cx="3008630"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writes a rhyme for your mom's birthday card</a:t>
            </a:r>
            <a:endParaRPr lang="en-US" sz="1700" dirty="0"/>
          </a:p>
        </p:txBody>
      </p:sp>
      <p:sp>
        <p:nvSpPr>
          <p:cNvPr id="13" name="Shape 11"/>
          <p:cNvSpPr/>
          <p:nvPr/>
        </p:nvSpPr>
        <p:spPr>
          <a:xfrm>
            <a:off x="819150" y="4121051"/>
            <a:ext cx="3390900" cy="1714599"/>
          </a:xfrm>
          <a:prstGeom prst="roundRect">
            <a:avLst>
              <a:gd name="adj" fmla="val 7037"/>
            </a:avLst>
          </a:prstGeom>
          <a:solidFill>
            <a:srgbClr val="FFFFFF"/>
          </a:solidFill>
          <a:ln w="12700">
            <a:solidFill>
              <a:srgbClr val="E4DED5"/>
            </a:solidFill>
            <a:prstDash val="solid"/>
          </a:ln>
        </p:spPr>
        <p:txBody>
          <a:bodyPr/>
          <a:lstStyle/>
          <a:p>
            <a:endParaRPr lang="en-US"/>
          </a:p>
        </p:txBody>
      </p:sp>
      <p:sp>
        <p:nvSpPr>
          <p:cNvPr id="14" name="Text 12"/>
          <p:cNvSpPr/>
          <p:nvPr/>
        </p:nvSpPr>
        <p:spPr>
          <a:xfrm>
            <a:off x="1054100" y="4356001"/>
            <a:ext cx="300863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D21F2B"/>
                </a:solidFill>
                <a:latin typeface="Oswald" pitchFamily="34" charset="0"/>
                <a:ea typeface="Oswald" pitchFamily="34" charset="-122"/>
                <a:cs typeface="Oswald" pitchFamily="34" charset="-120"/>
              </a:rPr>
              <a:t>4</a:t>
            </a:r>
            <a:endParaRPr lang="en-US" sz="2800" dirty="0"/>
          </a:p>
        </p:txBody>
      </p:sp>
      <p:sp>
        <p:nvSpPr>
          <p:cNvPr id="15" name="Text 13"/>
          <p:cNvSpPr/>
          <p:nvPr/>
        </p:nvSpPr>
        <p:spPr>
          <a:xfrm>
            <a:off x="1054100" y="4813201"/>
            <a:ext cx="3008630"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gives you a date for your history essay</a:t>
            </a:r>
            <a:endParaRPr lang="en-US" sz="1700" dirty="0"/>
          </a:p>
        </p:txBody>
      </p:sp>
      <p:sp>
        <p:nvSpPr>
          <p:cNvPr id="16" name="Shape 14"/>
          <p:cNvSpPr/>
          <p:nvPr/>
        </p:nvSpPr>
        <p:spPr>
          <a:xfrm>
            <a:off x="4400550" y="4121051"/>
            <a:ext cx="3390900" cy="1714599"/>
          </a:xfrm>
          <a:prstGeom prst="roundRect">
            <a:avLst>
              <a:gd name="adj" fmla="val 7037"/>
            </a:avLst>
          </a:prstGeom>
          <a:solidFill>
            <a:srgbClr val="FFFFFF"/>
          </a:solidFill>
          <a:ln w="12700">
            <a:solidFill>
              <a:srgbClr val="E4DED5"/>
            </a:solidFill>
            <a:prstDash val="solid"/>
          </a:ln>
        </p:spPr>
        <p:txBody>
          <a:bodyPr/>
          <a:lstStyle/>
          <a:p>
            <a:endParaRPr lang="en-US"/>
          </a:p>
        </p:txBody>
      </p:sp>
      <p:sp>
        <p:nvSpPr>
          <p:cNvPr id="17" name="Text 15"/>
          <p:cNvSpPr/>
          <p:nvPr/>
        </p:nvSpPr>
        <p:spPr>
          <a:xfrm>
            <a:off x="4635500" y="4356001"/>
            <a:ext cx="300863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D21F2B"/>
                </a:solidFill>
                <a:latin typeface="Oswald" pitchFamily="34" charset="0"/>
                <a:ea typeface="Oswald" pitchFamily="34" charset="-122"/>
                <a:cs typeface="Oswald" pitchFamily="34" charset="-120"/>
              </a:rPr>
              <a:t>5</a:t>
            </a:r>
            <a:endParaRPr lang="en-US" sz="2800" dirty="0"/>
          </a:p>
        </p:txBody>
      </p:sp>
      <p:sp>
        <p:nvSpPr>
          <p:cNvPr id="18" name="Text 16"/>
          <p:cNvSpPr/>
          <p:nvPr/>
        </p:nvSpPr>
        <p:spPr>
          <a:xfrm>
            <a:off x="4635500" y="4813201"/>
            <a:ext cx="3008630"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asks for your address to "personalize" answers</a:t>
            </a:r>
            <a:endParaRPr lang="en-US" sz="1700" dirty="0"/>
          </a:p>
        </p:txBody>
      </p:sp>
      <p:sp>
        <p:nvSpPr>
          <p:cNvPr id="19" name="Shape 17"/>
          <p:cNvSpPr/>
          <p:nvPr/>
        </p:nvSpPr>
        <p:spPr>
          <a:xfrm>
            <a:off x="7981950" y="4121051"/>
            <a:ext cx="3390900" cy="1714599"/>
          </a:xfrm>
          <a:prstGeom prst="roundRect">
            <a:avLst>
              <a:gd name="adj" fmla="val 7037"/>
            </a:avLst>
          </a:prstGeom>
          <a:solidFill>
            <a:srgbClr val="FFFFFF"/>
          </a:solidFill>
          <a:ln w="12700">
            <a:solidFill>
              <a:srgbClr val="E4DED5"/>
            </a:solidFill>
            <a:prstDash val="solid"/>
          </a:ln>
        </p:spPr>
        <p:txBody>
          <a:bodyPr/>
          <a:lstStyle/>
          <a:p>
            <a:endParaRPr lang="en-US"/>
          </a:p>
        </p:txBody>
      </p:sp>
      <p:sp>
        <p:nvSpPr>
          <p:cNvPr id="20" name="Text 18"/>
          <p:cNvSpPr/>
          <p:nvPr/>
        </p:nvSpPr>
        <p:spPr>
          <a:xfrm>
            <a:off x="8216900" y="4356001"/>
            <a:ext cx="300863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D21F2B"/>
                </a:solidFill>
                <a:latin typeface="Oswald" pitchFamily="34" charset="0"/>
                <a:ea typeface="Oswald" pitchFamily="34" charset="-122"/>
                <a:cs typeface="Oswald" pitchFamily="34" charset="-120"/>
              </a:rPr>
              <a:t>6</a:t>
            </a:r>
            <a:endParaRPr lang="en-US" sz="2800" dirty="0"/>
          </a:p>
        </p:txBody>
      </p:sp>
      <p:sp>
        <p:nvSpPr>
          <p:cNvPr id="21" name="Text 19"/>
          <p:cNvSpPr/>
          <p:nvPr/>
        </p:nvSpPr>
        <p:spPr>
          <a:xfrm>
            <a:off x="8216900" y="4813201"/>
            <a:ext cx="3008630" cy="58658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61616"/>
                </a:solidFill>
                <a:latin typeface="Nunito Sans" pitchFamily="34" charset="0"/>
                <a:ea typeface="Nunito Sans" pitchFamily="34" charset="-122"/>
                <a:cs typeface="Nunito Sans" pitchFamily="34" charset="-120"/>
              </a:rPr>
              <a:t>AI writes your whole book report</a:t>
            </a:r>
            <a:endParaRPr lang="en-US" sz="17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3EE"/>
                </a:solidFill>
                <a:latin typeface="Oswald" pitchFamily="34" charset="0"/>
                <a:ea typeface="Oswald" pitchFamily="34" charset="-122"/>
                <a:cs typeface="Oswald" pitchFamily="34" charset="-120"/>
              </a:rPr>
              <a:t>THE FOUR BADGER RULES FOR AI</a:t>
            </a:r>
            <a:endParaRPr lang="en-US" sz="4800" dirty="0"/>
          </a:p>
        </p:txBody>
      </p:sp>
      <p:sp>
        <p:nvSpPr>
          <p:cNvPr id="3" name="Shape 1"/>
          <p:cNvSpPr/>
          <p:nvPr/>
        </p:nvSpPr>
        <p:spPr>
          <a:xfrm>
            <a:off x="812800" y="1757660"/>
            <a:ext cx="5194300" cy="1471910"/>
          </a:xfrm>
          <a:prstGeom prst="roundRect">
            <a:avLst>
              <a:gd name="adj" fmla="val 10354"/>
            </a:avLst>
          </a:prstGeom>
          <a:solidFill>
            <a:srgbClr val="242424"/>
          </a:solidFill>
          <a:ln/>
        </p:spPr>
        <p:txBody>
          <a:bodyPr/>
          <a:lstStyle/>
          <a:p>
            <a:endParaRPr lang="en-US"/>
          </a:p>
        </p:txBody>
      </p:sp>
      <p:sp>
        <p:nvSpPr>
          <p:cNvPr id="4" name="Shape 2"/>
          <p:cNvSpPr/>
          <p:nvPr/>
        </p:nvSpPr>
        <p:spPr>
          <a:xfrm>
            <a:off x="812800" y="1757660"/>
            <a:ext cx="5194300" cy="1471910"/>
          </a:xfrm>
          <a:custGeom>
            <a:avLst/>
            <a:gdLst/>
            <a:ahLst/>
            <a:cxnLst/>
            <a:rect l="l" t="t" r="r" b="b"/>
            <a:pathLst>
              <a:path w="5194300" h="1471910">
                <a:moveTo>
                  <a:pt x="152400" y="1471910"/>
                </a:moveTo>
                <a:lnTo>
                  <a:pt x="152400" y="1471910"/>
                </a:lnTo>
                <a:arcTo wR="152400" hR="152400" stAng="5400000" swAng="5400000"/>
                <a:lnTo>
                  <a:pt x="0" y="152400"/>
                </a:lnTo>
                <a:arcTo wR="152400" hR="152400" stAng="10800000" swAng="5400000"/>
                <a:lnTo>
                  <a:pt x="152400" y="0"/>
                </a:lnTo>
                <a:arcTo wR="76200" hR="152400" stAng="16200000" swAng="-5400000"/>
                <a:lnTo>
                  <a:pt x="76200" y="1319510"/>
                </a:lnTo>
                <a:arcTo wR="76200" hR="152400" stAng="10800000" swAng="-5400000"/>
                <a:close/>
              </a:path>
            </a:pathLst>
          </a:custGeom>
          <a:solidFill>
            <a:srgbClr val="D21F2B"/>
          </a:solidFill>
          <a:ln/>
        </p:spPr>
        <p:txBody>
          <a:bodyPr/>
          <a:lstStyle/>
          <a:p>
            <a:endParaRPr lang="en-US"/>
          </a:p>
        </p:txBody>
      </p:sp>
      <p:sp>
        <p:nvSpPr>
          <p:cNvPr id="5" name="Text 3"/>
          <p:cNvSpPr/>
          <p:nvPr/>
        </p:nvSpPr>
        <p:spPr>
          <a:xfrm>
            <a:off x="1143000" y="2188766"/>
            <a:ext cx="28555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D21F2B"/>
                </a:solidFill>
                <a:latin typeface="Oswald" pitchFamily="34" charset="0"/>
                <a:ea typeface="Oswald" pitchFamily="34" charset="-122"/>
                <a:cs typeface="Oswald" pitchFamily="34" charset="-120"/>
              </a:rPr>
              <a:t>1</a:t>
            </a:r>
            <a:endParaRPr lang="en-US" sz="4800" dirty="0"/>
          </a:p>
        </p:txBody>
      </p:sp>
      <p:sp>
        <p:nvSpPr>
          <p:cNvPr id="6" name="Text 4"/>
          <p:cNvSpPr/>
          <p:nvPr/>
        </p:nvSpPr>
        <p:spPr>
          <a:xfrm>
            <a:off x="1580952" y="2318941"/>
            <a:ext cx="2575084" cy="374650"/>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F6F3EE"/>
                </a:solidFill>
                <a:latin typeface="Nunito Sans" pitchFamily="34" charset="0"/>
                <a:ea typeface="Nunito Sans" pitchFamily="34" charset="-122"/>
                <a:cs typeface="Nunito Sans" pitchFamily="34" charset="-120"/>
              </a:rPr>
              <a:t>AI can be wrong.</a:t>
            </a:r>
            <a:endParaRPr lang="en-US" sz="2200" dirty="0"/>
          </a:p>
        </p:txBody>
      </p:sp>
      <p:sp>
        <p:nvSpPr>
          <p:cNvPr id="7" name="Shape 5"/>
          <p:cNvSpPr/>
          <p:nvPr/>
        </p:nvSpPr>
        <p:spPr>
          <a:xfrm>
            <a:off x="6184900" y="1757660"/>
            <a:ext cx="5194300" cy="1471910"/>
          </a:xfrm>
          <a:prstGeom prst="roundRect">
            <a:avLst>
              <a:gd name="adj" fmla="val 10354"/>
            </a:avLst>
          </a:prstGeom>
          <a:solidFill>
            <a:srgbClr val="242424"/>
          </a:solidFill>
          <a:ln/>
        </p:spPr>
        <p:txBody>
          <a:bodyPr/>
          <a:lstStyle/>
          <a:p>
            <a:endParaRPr lang="en-US"/>
          </a:p>
        </p:txBody>
      </p:sp>
      <p:sp>
        <p:nvSpPr>
          <p:cNvPr id="8" name="Shape 6"/>
          <p:cNvSpPr/>
          <p:nvPr/>
        </p:nvSpPr>
        <p:spPr>
          <a:xfrm>
            <a:off x="6184900" y="1757660"/>
            <a:ext cx="5194300" cy="1471910"/>
          </a:xfrm>
          <a:custGeom>
            <a:avLst/>
            <a:gdLst/>
            <a:ahLst/>
            <a:cxnLst/>
            <a:rect l="l" t="t" r="r" b="b"/>
            <a:pathLst>
              <a:path w="5194300" h="1471910">
                <a:moveTo>
                  <a:pt x="152400" y="1471910"/>
                </a:moveTo>
                <a:lnTo>
                  <a:pt x="152400" y="1471910"/>
                </a:lnTo>
                <a:arcTo wR="152400" hR="152400" stAng="5400000" swAng="5400000"/>
                <a:lnTo>
                  <a:pt x="0" y="152400"/>
                </a:lnTo>
                <a:arcTo wR="152400" hR="152400" stAng="10800000" swAng="5400000"/>
                <a:lnTo>
                  <a:pt x="152400" y="0"/>
                </a:lnTo>
                <a:arcTo wR="76200" hR="152400" stAng="16200000" swAng="-5400000"/>
                <a:lnTo>
                  <a:pt x="76200" y="1319510"/>
                </a:lnTo>
                <a:arcTo wR="76200" hR="152400" stAng="10800000" swAng="-5400000"/>
                <a:close/>
              </a:path>
            </a:pathLst>
          </a:custGeom>
          <a:solidFill>
            <a:srgbClr val="D21F2B"/>
          </a:solidFill>
          <a:ln/>
        </p:spPr>
        <p:txBody>
          <a:bodyPr/>
          <a:lstStyle/>
          <a:p>
            <a:endParaRPr lang="en-US"/>
          </a:p>
        </p:txBody>
      </p:sp>
      <p:sp>
        <p:nvSpPr>
          <p:cNvPr id="9" name="Text 7"/>
          <p:cNvSpPr/>
          <p:nvPr/>
        </p:nvSpPr>
        <p:spPr>
          <a:xfrm>
            <a:off x="6515100" y="2188766"/>
            <a:ext cx="37611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D21F2B"/>
                </a:solidFill>
                <a:latin typeface="Oswald" pitchFamily="34" charset="0"/>
                <a:ea typeface="Oswald" pitchFamily="34" charset="-122"/>
                <a:cs typeface="Oswald" pitchFamily="34" charset="-120"/>
              </a:rPr>
              <a:t>2</a:t>
            </a:r>
            <a:endParaRPr lang="en-US" sz="4800" dirty="0"/>
          </a:p>
        </p:txBody>
      </p:sp>
      <p:sp>
        <p:nvSpPr>
          <p:cNvPr id="10" name="Text 8"/>
          <p:cNvSpPr/>
          <p:nvPr/>
        </p:nvSpPr>
        <p:spPr>
          <a:xfrm>
            <a:off x="7031732" y="2318941"/>
            <a:ext cx="4000500" cy="374650"/>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F6F3EE"/>
                </a:solidFill>
                <a:latin typeface="Nunito Sans" pitchFamily="34" charset="0"/>
                <a:ea typeface="Nunito Sans" pitchFamily="34" charset="-122"/>
                <a:cs typeface="Nunito Sans" pitchFamily="34" charset="-120"/>
              </a:rPr>
              <a:t>Verify anything important.</a:t>
            </a:r>
            <a:endParaRPr lang="en-US" sz="2200" dirty="0"/>
          </a:p>
        </p:txBody>
      </p:sp>
      <p:sp>
        <p:nvSpPr>
          <p:cNvPr id="11" name="Shape 9"/>
          <p:cNvSpPr/>
          <p:nvPr/>
        </p:nvSpPr>
        <p:spPr>
          <a:xfrm>
            <a:off x="812800" y="3407370"/>
            <a:ext cx="5194300" cy="1560909"/>
          </a:xfrm>
          <a:prstGeom prst="roundRect">
            <a:avLst>
              <a:gd name="adj" fmla="val 9764"/>
            </a:avLst>
          </a:prstGeom>
          <a:solidFill>
            <a:srgbClr val="242424"/>
          </a:solidFill>
          <a:ln/>
        </p:spPr>
        <p:txBody>
          <a:bodyPr/>
          <a:lstStyle/>
          <a:p>
            <a:endParaRPr lang="en-US"/>
          </a:p>
        </p:txBody>
      </p:sp>
      <p:sp>
        <p:nvSpPr>
          <p:cNvPr id="12" name="Shape 10"/>
          <p:cNvSpPr/>
          <p:nvPr/>
        </p:nvSpPr>
        <p:spPr>
          <a:xfrm>
            <a:off x="812800" y="3407370"/>
            <a:ext cx="5194300" cy="1560909"/>
          </a:xfrm>
          <a:custGeom>
            <a:avLst/>
            <a:gdLst/>
            <a:ahLst/>
            <a:cxnLst/>
            <a:rect l="l" t="t" r="r" b="b"/>
            <a:pathLst>
              <a:path w="5194300" h="1560909">
                <a:moveTo>
                  <a:pt x="152400" y="1560909"/>
                </a:moveTo>
                <a:lnTo>
                  <a:pt x="152400" y="1560909"/>
                </a:lnTo>
                <a:arcTo wR="152400" hR="152400" stAng="5400000" swAng="5400000"/>
                <a:lnTo>
                  <a:pt x="0" y="152400"/>
                </a:lnTo>
                <a:arcTo wR="152400" hR="152400" stAng="10800000" swAng="5400000"/>
                <a:lnTo>
                  <a:pt x="152400" y="0"/>
                </a:lnTo>
                <a:arcTo wR="76200" hR="152400" stAng="16200000" swAng="-5400000"/>
                <a:lnTo>
                  <a:pt x="76200" y="1408509"/>
                </a:lnTo>
                <a:arcTo wR="76200" hR="152400" stAng="10800000" swAng="-5400000"/>
                <a:close/>
              </a:path>
            </a:pathLst>
          </a:custGeom>
          <a:solidFill>
            <a:srgbClr val="D21F2B"/>
          </a:solidFill>
          <a:ln/>
        </p:spPr>
        <p:txBody>
          <a:bodyPr/>
          <a:lstStyle/>
          <a:p>
            <a:endParaRPr lang="en-US"/>
          </a:p>
        </p:txBody>
      </p:sp>
      <p:sp>
        <p:nvSpPr>
          <p:cNvPr id="13" name="Text 11"/>
          <p:cNvSpPr/>
          <p:nvPr/>
        </p:nvSpPr>
        <p:spPr>
          <a:xfrm>
            <a:off x="1143000" y="3883025"/>
            <a:ext cx="34756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D21F2B"/>
                </a:solidFill>
                <a:latin typeface="Oswald" pitchFamily="34" charset="0"/>
                <a:ea typeface="Oswald" pitchFamily="34" charset="-122"/>
                <a:cs typeface="Oswald" pitchFamily="34" charset="-120"/>
              </a:rPr>
              <a:t>3</a:t>
            </a:r>
            <a:endParaRPr lang="en-US" sz="4800" dirty="0"/>
          </a:p>
        </p:txBody>
      </p:sp>
      <p:sp>
        <p:nvSpPr>
          <p:cNvPr id="14" name="Text 12"/>
          <p:cNvSpPr/>
          <p:nvPr/>
        </p:nvSpPr>
        <p:spPr>
          <a:xfrm>
            <a:off x="1642963" y="3838575"/>
            <a:ext cx="4233441" cy="723900"/>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F6F3EE"/>
                </a:solidFill>
                <a:latin typeface="Nunito Sans" pitchFamily="34" charset="0"/>
                <a:ea typeface="Nunito Sans" pitchFamily="34" charset="-122"/>
                <a:cs typeface="Nunito Sans" pitchFamily="34" charset="-120"/>
              </a:rPr>
              <a:t>Protect your personal information.</a:t>
            </a:r>
            <a:endParaRPr lang="en-US" sz="2200" dirty="0"/>
          </a:p>
        </p:txBody>
      </p:sp>
      <p:sp>
        <p:nvSpPr>
          <p:cNvPr id="15" name="Shape 13"/>
          <p:cNvSpPr/>
          <p:nvPr/>
        </p:nvSpPr>
        <p:spPr>
          <a:xfrm>
            <a:off x="6184900" y="3407370"/>
            <a:ext cx="5194300" cy="1560909"/>
          </a:xfrm>
          <a:prstGeom prst="roundRect">
            <a:avLst>
              <a:gd name="adj" fmla="val 9764"/>
            </a:avLst>
          </a:prstGeom>
          <a:solidFill>
            <a:srgbClr val="D21F2B"/>
          </a:solidFill>
          <a:ln/>
        </p:spPr>
        <p:txBody>
          <a:bodyPr/>
          <a:lstStyle/>
          <a:p>
            <a:endParaRPr lang="en-US"/>
          </a:p>
        </p:txBody>
      </p:sp>
      <p:sp>
        <p:nvSpPr>
          <p:cNvPr id="16" name="Text 14"/>
          <p:cNvSpPr/>
          <p:nvPr/>
        </p:nvSpPr>
        <p:spPr>
          <a:xfrm>
            <a:off x="6438900" y="3883025"/>
            <a:ext cx="29587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6F3EE"/>
                </a:solidFill>
                <a:latin typeface="Oswald" pitchFamily="34" charset="0"/>
                <a:ea typeface="Oswald" pitchFamily="34" charset="-122"/>
                <a:cs typeface="Oswald" pitchFamily="34" charset="-120"/>
              </a:rPr>
              <a:t>4</a:t>
            </a:r>
            <a:endParaRPr lang="en-US" sz="4800" dirty="0"/>
          </a:p>
        </p:txBody>
      </p:sp>
      <p:sp>
        <p:nvSpPr>
          <p:cNvPr id="17" name="Text 15"/>
          <p:cNvSpPr/>
          <p:nvPr/>
        </p:nvSpPr>
        <p:spPr>
          <a:xfrm>
            <a:off x="6887170" y="3838575"/>
            <a:ext cx="4365171" cy="723900"/>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F6F3EE"/>
                </a:solidFill>
                <a:latin typeface="Nunito Sans" pitchFamily="34" charset="0"/>
                <a:ea typeface="Nunito Sans" pitchFamily="34" charset="-122"/>
                <a:cs typeface="Nunito Sans" pitchFamily="34" charset="-120"/>
              </a:rPr>
              <a:t>AI helps you think. It does not think for you.</a:t>
            </a:r>
            <a:endParaRPr lang="en-US" sz="2200" dirty="0"/>
          </a:p>
        </p:txBody>
      </p:sp>
      <p:sp>
        <p:nvSpPr>
          <p:cNvPr id="18" name="Text 16"/>
          <p:cNvSpPr/>
          <p:nvPr/>
        </p:nvSpPr>
        <p:spPr>
          <a:xfrm>
            <a:off x="812800" y="5273080"/>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9D5CE"/>
                </a:solidFill>
                <a:latin typeface="Nunito Sans" pitchFamily="34" charset="0"/>
                <a:ea typeface="Nunito Sans" pitchFamily="34" charset="-122"/>
                <a:cs typeface="Nunito Sans" pitchFamily="34" charset="-120"/>
              </a:rPr>
              <a:t>Home test: ask an AI the same question two different ways. If the answers don't match, one is wrong, and the AI doesn't know which.</a:t>
            </a:r>
            <a:endParaRPr lang="en-US" sz="16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RAISE YOUR HAND FOR YOUR FAVORITE SUBJECT</a:t>
            </a:r>
            <a:endParaRPr lang="en-US" sz="1400" dirty="0"/>
          </a:p>
        </p:txBody>
      </p:sp>
      <p:sp>
        <p:nvSpPr>
          <p:cNvPr id="3" name="Text 1"/>
          <p:cNvSpPr>
            <a:spLocks noGrp="1"/>
          </p:cNvSpPr>
          <p:nvPr>
            <p:ph type="title"/>
          </p:nvPr>
        </p:nvSpPr>
        <p:spPr>
          <a:xfrm>
            <a:off x="812800" y="13156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61616"/>
                </a:solidFill>
                <a:latin typeface="Oswald" pitchFamily="34" charset="0"/>
                <a:ea typeface="Oswald" pitchFamily="34" charset="-122"/>
                <a:cs typeface="Oswald" pitchFamily="34" charset="-120"/>
              </a:rPr>
              <a:t>YOUR PATH STARTS IN THIS BUILDING</a:t>
            </a:r>
            <a:endParaRPr lang="en-US" sz="4800" dirty="0"/>
          </a:p>
        </p:txBody>
      </p:sp>
      <p:sp>
        <p:nvSpPr>
          <p:cNvPr id="4" name="Shape 2"/>
          <p:cNvSpPr/>
          <p:nvPr/>
        </p:nvSpPr>
        <p:spPr>
          <a:xfrm>
            <a:off x="819150" y="2216051"/>
            <a:ext cx="2368550" cy="3619599"/>
          </a:xfrm>
          <a:prstGeom prst="roundRect">
            <a:avLst>
              <a:gd name="adj" fmla="val 5094"/>
            </a:avLst>
          </a:prstGeom>
          <a:solidFill>
            <a:srgbClr val="FFFFFF"/>
          </a:solidFill>
          <a:ln w="12700">
            <a:solidFill>
              <a:srgbClr val="E4DED5"/>
            </a:solidFill>
            <a:prstDash val="solid"/>
          </a:ln>
        </p:spPr>
        <p:txBody>
          <a:bodyPr/>
          <a:lstStyle/>
          <a:p>
            <a:endParaRPr lang="en-US"/>
          </a:p>
        </p:txBody>
      </p:sp>
      <p:pic>
        <p:nvPicPr>
          <p:cNvPr id="5" name="Image 0" descr="Book"/>
          <p:cNvPicPr>
            <a:picLocks noChangeAspect="1"/>
          </p:cNvPicPr>
          <p:nvPr/>
        </p:nvPicPr>
        <p:blipFill>
          <a:blip r:embed="rId3"/>
          <a:srcRect/>
          <a:stretch/>
        </p:blipFill>
        <p:spPr>
          <a:xfrm>
            <a:off x="1054100" y="2451001"/>
            <a:ext cx="355600" cy="355600"/>
          </a:xfrm>
          <a:prstGeom prst="rect">
            <a:avLst/>
          </a:prstGeom>
        </p:spPr>
      </p:pic>
      <p:sp>
        <p:nvSpPr>
          <p:cNvPr id="6" name="Text 3"/>
          <p:cNvSpPr/>
          <p:nvPr/>
        </p:nvSpPr>
        <p:spPr>
          <a:xfrm>
            <a:off x="1054100" y="2933601"/>
            <a:ext cx="19556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Classes</a:t>
            </a:r>
            <a:endParaRPr lang="en-US" sz="1700" dirty="0"/>
          </a:p>
        </p:txBody>
      </p:sp>
      <p:sp>
        <p:nvSpPr>
          <p:cNvPr id="7" name="Text 4"/>
          <p:cNvSpPr/>
          <p:nvPr/>
        </p:nvSpPr>
        <p:spPr>
          <a:xfrm>
            <a:off x="1138682" y="3319661"/>
            <a:ext cx="1864868" cy="157202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Math = patterns</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Science = testing ideas</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English = explaining</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Art = designing</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PE = teamwork</a:t>
            </a:r>
            <a:endParaRPr lang="en-US" sz="1400" dirty="0"/>
          </a:p>
        </p:txBody>
      </p:sp>
      <p:sp>
        <p:nvSpPr>
          <p:cNvPr id="8" name="Shape 5"/>
          <p:cNvSpPr/>
          <p:nvPr/>
        </p:nvSpPr>
        <p:spPr>
          <a:xfrm>
            <a:off x="3352800" y="2216051"/>
            <a:ext cx="2368550" cy="3619599"/>
          </a:xfrm>
          <a:prstGeom prst="roundRect">
            <a:avLst>
              <a:gd name="adj" fmla="val 5094"/>
            </a:avLst>
          </a:prstGeom>
          <a:solidFill>
            <a:srgbClr val="FFFFFF"/>
          </a:solidFill>
          <a:ln w="12700">
            <a:solidFill>
              <a:srgbClr val="E4DED5"/>
            </a:solidFill>
            <a:prstDash val="solid"/>
          </a:ln>
        </p:spPr>
        <p:txBody>
          <a:bodyPr/>
          <a:lstStyle/>
          <a:p>
            <a:endParaRPr lang="en-US"/>
          </a:p>
        </p:txBody>
      </p:sp>
      <p:pic>
        <p:nvPicPr>
          <p:cNvPr id="9" name="Image 1" descr="Lightbulb"/>
          <p:cNvPicPr>
            <a:picLocks noChangeAspect="1"/>
          </p:cNvPicPr>
          <p:nvPr/>
        </p:nvPicPr>
        <p:blipFill>
          <a:blip r:embed="rId4"/>
          <a:srcRect/>
          <a:stretch/>
        </p:blipFill>
        <p:spPr>
          <a:xfrm>
            <a:off x="3587750" y="2451001"/>
            <a:ext cx="355600" cy="355600"/>
          </a:xfrm>
          <a:prstGeom prst="rect">
            <a:avLst/>
          </a:prstGeom>
        </p:spPr>
      </p:pic>
      <p:sp>
        <p:nvSpPr>
          <p:cNvPr id="10" name="Text 6"/>
          <p:cNvSpPr/>
          <p:nvPr/>
        </p:nvSpPr>
        <p:spPr>
          <a:xfrm>
            <a:off x="3587750" y="2933601"/>
            <a:ext cx="19556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Skills</a:t>
            </a:r>
            <a:endParaRPr lang="en-US" sz="1700" dirty="0"/>
          </a:p>
        </p:txBody>
      </p:sp>
      <p:sp>
        <p:nvSpPr>
          <p:cNvPr id="11" name="Text 7"/>
          <p:cNvSpPr/>
          <p:nvPr/>
        </p:nvSpPr>
        <p:spPr>
          <a:xfrm>
            <a:off x="3672332" y="3319661"/>
            <a:ext cx="1864868" cy="182979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Asking good questions</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Explaining ideas simply</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Working on a team</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Finishing what you start</a:t>
            </a:r>
            <a:endParaRPr lang="en-US" sz="1400" dirty="0"/>
          </a:p>
        </p:txBody>
      </p:sp>
      <p:sp>
        <p:nvSpPr>
          <p:cNvPr id="12" name="Shape 8"/>
          <p:cNvSpPr/>
          <p:nvPr/>
        </p:nvSpPr>
        <p:spPr>
          <a:xfrm>
            <a:off x="5886450" y="2216051"/>
            <a:ext cx="2368550" cy="3619599"/>
          </a:xfrm>
          <a:prstGeom prst="roundRect">
            <a:avLst>
              <a:gd name="adj" fmla="val 5094"/>
            </a:avLst>
          </a:prstGeom>
          <a:solidFill>
            <a:srgbClr val="FFFFFF"/>
          </a:solidFill>
          <a:ln w="12700">
            <a:solidFill>
              <a:srgbClr val="E4DED5"/>
            </a:solidFill>
            <a:prstDash val="solid"/>
          </a:ln>
        </p:spPr>
        <p:txBody>
          <a:bodyPr/>
          <a:lstStyle/>
          <a:p>
            <a:endParaRPr lang="en-US"/>
          </a:p>
        </p:txBody>
      </p:sp>
      <p:pic>
        <p:nvPicPr>
          <p:cNvPr id="13" name="Image 2" descr="Star"/>
          <p:cNvPicPr>
            <a:picLocks noChangeAspect="1"/>
          </p:cNvPicPr>
          <p:nvPr/>
        </p:nvPicPr>
        <p:blipFill>
          <a:blip r:embed="rId5"/>
          <a:srcRect/>
          <a:stretch/>
        </p:blipFill>
        <p:spPr>
          <a:xfrm>
            <a:off x="6121400" y="2451001"/>
            <a:ext cx="355600" cy="355600"/>
          </a:xfrm>
          <a:prstGeom prst="rect">
            <a:avLst/>
          </a:prstGeom>
        </p:spPr>
      </p:pic>
      <p:sp>
        <p:nvSpPr>
          <p:cNvPr id="14" name="Text 9"/>
          <p:cNvSpPr/>
          <p:nvPr/>
        </p:nvSpPr>
        <p:spPr>
          <a:xfrm>
            <a:off x="6121400" y="2933601"/>
            <a:ext cx="19556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1616"/>
                </a:solidFill>
                <a:latin typeface="Nunito Sans" pitchFamily="34" charset="0"/>
                <a:ea typeface="Nunito Sans" pitchFamily="34" charset="-122"/>
                <a:cs typeface="Nunito Sans" pitchFamily="34" charset="-120"/>
              </a:rPr>
              <a:t>Hobbies</a:t>
            </a:r>
            <a:endParaRPr lang="en-US" sz="1700" dirty="0"/>
          </a:p>
        </p:txBody>
      </p:sp>
      <p:sp>
        <p:nvSpPr>
          <p:cNvPr id="15" name="Text 10"/>
          <p:cNvSpPr/>
          <p:nvPr/>
        </p:nvSpPr>
        <p:spPr>
          <a:xfrm>
            <a:off x="6205982" y="3319661"/>
            <a:ext cx="1864868" cy="2087563"/>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Video games, Minecraft</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Lego, building anything</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Drawing</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Sports strategy</a:t>
            </a:r>
            <a:endParaRPr lang="en-US" sz="1400" dirty="0"/>
          </a:p>
          <a:p>
            <a:pPr marL="169418" indent="-169418" algn="l">
              <a:lnSpc>
                <a:spcPts val="2030"/>
              </a:lnSpc>
              <a:buSzPct val="100000"/>
              <a:buChar char="•"/>
            </a:pPr>
            <a:r>
              <a:rPr lang="en-US" sz="1400" dirty="0">
                <a:solidFill>
                  <a:srgbClr val="4A4A4A"/>
                </a:solidFill>
                <a:latin typeface="Nunito Sans" pitchFamily="34" charset="0"/>
                <a:ea typeface="Nunito Sans" pitchFamily="34" charset="-122"/>
                <a:cs typeface="Nunito Sans" pitchFamily="34" charset="-120"/>
              </a:rPr>
              <a:t>Coding (one door, not the only one)</a:t>
            </a:r>
            <a:endParaRPr lang="en-US" sz="1400" dirty="0"/>
          </a:p>
        </p:txBody>
      </p:sp>
      <p:pic>
        <p:nvPicPr>
          <p:cNvPr id="16" name="Image 3" descr="arrow-right"/>
          <p:cNvPicPr>
            <a:picLocks noChangeAspect="1"/>
          </p:cNvPicPr>
          <p:nvPr/>
        </p:nvPicPr>
        <p:blipFill>
          <a:blip r:embed="rId6"/>
          <a:srcRect/>
          <a:stretch/>
        </p:blipFill>
        <p:spPr>
          <a:xfrm>
            <a:off x="8413750" y="3911501"/>
            <a:ext cx="457200" cy="228600"/>
          </a:xfrm>
          <a:prstGeom prst="rect">
            <a:avLst/>
          </a:prstGeom>
        </p:spPr>
      </p:pic>
      <p:sp>
        <p:nvSpPr>
          <p:cNvPr id="17" name="Shape 11"/>
          <p:cNvSpPr/>
          <p:nvPr/>
        </p:nvSpPr>
        <p:spPr>
          <a:xfrm>
            <a:off x="9023350" y="2209701"/>
            <a:ext cx="2355850" cy="3632299"/>
          </a:xfrm>
          <a:prstGeom prst="roundRect">
            <a:avLst>
              <a:gd name="adj" fmla="val 5391"/>
            </a:avLst>
          </a:prstGeom>
          <a:solidFill>
            <a:srgbClr val="161616"/>
          </a:solidFill>
          <a:ln/>
        </p:spPr>
        <p:txBody>
          <a:bodyPr/>
          <a:lstStyle/>
          <a:p>
            <a:endParaRPr lang="en-US"/>
          </a:p>
        </p:txBody>
      </p:sp>
      <p:pic>
        <p:nvPicPr>
          <p:cNvPr id="18" name="Image 4" descr="GraduationCap"/>
          <p:cNvPicPr>
            <a:picLocks noChangeAspect="1"/>
          </p:cNvPicPr>
          <p:nvPr/>
        </p:nvPicPr>
        <p:blipFill>
          <a:blip r:embed="rId7"/>
          <a:srcRect/>
          <a:stretch/>
        </p:blipFill>
        <p:spPr>
          <a:xfrm>
            <a:off x="9251950" y="2438301"/>
            <a:ext cx="355600" cy="355600"/>
          </a:xfrm>
          <a:prstGeom prst="rect">
            <a:avLst/>
          </a:prstGeom>
        </p:spPr>
      </p:pic>
      <p:sp>
        <p:nvSpPr>
          <p:cNvPr id="19" name="Text 12"/>
          <p:cNvSpPr/>
          <p:nvPr/>
        </p:nvSpPr>
        <p:spPr>
          <a:xfrm>
            <a:off x="9251950" y="2920901"/>
            <a:ext cx="19556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6F3EE"/>
                </a:solidFill>
                <a:latin typeface="Nunito Sans" pitchFamily="34" charset="0"/>
                <a:ea typeface="Nunito Sans" pitchFamily="34" charset="-122"/>
                <a:cs typeface="Nunito Sans" pitchFamily="34" charset="-120"/>
              </a:rPr>
              <a:t>Future jobs</a:t>
            </a:r>
            <a:endParaRPr lang="en-US" sz="1700" dirty="0"/>
          </a:p>
        </p:txBody>
      </p:sp>
      <p:sp>
        <p:nvSpPr>
          <p:cNvPr id="20" name="Text 13"/>
          <p:cNvSpPr/>
          <p:nvPr/>
        </p:nvSpPr>
        <p:spPr>
          <a:xfrm>
            <a:off x="9336532" y="3306961"/>
            <a:ext cx="1864868" cy="2087563"/>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Cloud architect</a:t>
            </a:r>
            <a:endParaRPr lang="en-US" sz="1400" dirty="0"/>
          </a:p>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AI engineer</a:t>
            </a:r>
            <a:endParaRPr lang="en-US" sz="1400" dirty="0"/>
          </a:p>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Data scientist</a:t>
            </a:r>
            <a:endParaRPr lang="en-US" sz="1400" dirty="0"/>
          </a:p>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Cybersecurity analyst</a:t>
            </a:r>
            <a:endParaRPr lang="en-US" sz="1400" dirty="0"/>
          </a:p>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UX designer</a:t>
            </a:r>
            <a:endParaRPr lang="en-US" sz="1400" dirty="0"/>
          </a:p>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Technical writer</a:t>
            </a:r>
            <a:endParaRPr lang="en-US" sz="1400" dirty="0"/>
          </a:p>
          <a:p>
            <a:pPr marL="169418" indent="-169418" algn="l">
              <a:lnSpc>
                <a:spcPts val="2030"/>
              </a:lnSpc>
              <a:buSzPct val="100000"/>
              <a:buChar char="•"/>
            </a:pPr>
            <a:r>
              <a:rPr lang="en-US" sz="1400" dirty="0">
                <a:solidFill>
                  <a:srgbClr val="D9D5CE"/>
                </a:solidFill>
                <a:latin typeface="Nunito Sans" pitchFamily="34" charset="0"/>
                <a:ea typeface="Nunito Sans" pitchFamily="34" charset="-122"/>
                <a:cs typeface="Nunito Sans" pitchFamily="34" charset="-120"/>
              </a:rPr>
              <a:t>Product manager</a:t>
            </a:r>
            <a:endParaRPr lang="en-US" sz="1400" dirty="0"/>
          </a:p>
        </p:txBody>
      </p:sp>
      <p:sp>
        <p:nvSpPr>
          <p:cNvPr id="21"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21F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6F3EE"/>
                </a:solidFill>
                <a:latin typeface="Nunito Sans" pitchFamily="34" charset="0"/>
                <a:ea typeface="Nunito Sans" pitchFamily="34" charset="-122"/>
                <a:cs typeface="Nunito Sans" pitchFamily="34" charset="-120"/>
              </a:rPr>
              <a:t>BADGER AI CHALLENGE · 2 MINUTES WITH YOUR NEIGHBOR</a:t>
            </a:r>
            <a:endParaRPr lang="en-US" sz="1400" dirty="0"/>
          </a:p>
        </p:txBody>
      </p:sp>
      <p:sp>
        <p:nvSpPr>
          <p:cNvPr id="3" name="Text 1"/>
          <p:cNvSpPr>
            <a:spLocks noGrp="1"/>
          </p:cNvSpPr>
          <p:nvPr>
            <p:ph type="title"/>
          </p:nvPr>
        </p:nvSpPr>
        <p:spPr>
          <a:xfrm>
            <a:off x="812800" y="13156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3EE"/>
                </a:solidFill>
                <a:latin typeface="Oswald" pitchFamily="34" charset="0"/>
                <a:ea typeface="Oswald" pitchFamily="34" charset="-122"/>
                <a:cs typeface="Oswald" pitchFamily="34" charset="-120"/>
              </a:rPr>
              <a:t>AN AI WROTE THIS. FIND THE 3 MISTAKES.</a:t>
            </a:r>
            <a:endParaRPr lang="en-US" sz="4800" dirty="0"/>
          </a:p>
        </p:txBody>
      </p:sp>
      <p:sp>
        <p:nvSpPr>
          <p:cNvPr id="4" name="Shape 2"/>
          <p:cNvSpPr/>
          <p:nvPr/>
        </p:nvSpPr>
        <p:spPr>
          <a:xfrm>
            <a:off x="812800" y="2633266"/>
            <a:ext cx="7975600" cy="2785070"/>
          </a:xfrm>
          <a:prstGeom prst="roundRect">
            <a:avLst>
              <a:gd name="adj" fmla="val 5472"/>
            </a:avLst>
          </a:prstGeom>
          <a:solidFill>
            <a:srgbClr val="F6F3EE"/>
          </a:solidFill>
          <a:ln/>
        </p:spPr>
        <p:txBody>
          <a:bodyPr/>
          <a:lstStyle/>
          <a:p>
            <a:endParaRPr lang="en-US"/>
          </a:p>
        </p:txBody>
      </p:sp>
      <p:sp>
        <p:nvSpPr>
          <p:cNvPr id="5" name="Text 3"/>
          <p:cNvSpPr/>
          <p:nvPr/>
        </p:nvSpPr>
        <p:spPr>
          <a:xfrm>
            <a:off x="1117600" y="2938066"/>
            <a:ext cx="75869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8A82"/>
                </a:solidFill>
                <a:latin typeface="Nunito Sans" pitchFamily="34" charset="0"/>
                <a:ea typeface="Nunito Sans" pitchFamily="34" charset="-122"/>
                <a:cs typeface="Nunito Sans" pitchFamily="34" charset="-120"/>
              </a:rPr>
              <a:t>AI ANSWER: "TELL ME ABOUT BADGERS"</a:t>
            </a:r>
            <a:endParaRPr lang="en-US" sz="1200" dirty="0"/>
          </a:p>
        </p:txBody>
      </p:sp>
      <p:sp>
        <p:nvSpPr>
          <p:cNvPr id="6" name="Text 4"/>
          <p:cNvSpPr/>
          <p:nvPr/>
        </p:nvSpPr>
        <p:spPr>
          <a:xfrm>
            <a:off x="1117600" y="3303786"/>
            <a:ext cx="7586980" cy="1835150"/>
          </a:xfrm>
          <a:prstGeom prst="rect">
            <a:avLst/>
          </a:prstGeom>
          <a:noFill/>
          <a:ln/>
        </p:spPr>
        <p:txBody>
          <a:bodyPr wrap="square" lIns="0" tIns="0" rIns="0" bIns="0" rtlCol="0" anchor="t">
            <a:normAutofit/>
          </a:bodyPr>
          <a:lstStyle/>
          <a:p>
            <a:pPr marL="0" indent="0" algn="l">
              <a:lnSpc>
                <a:spcPts val="2850"/>
              </a:lnSpc>
              <a:buNone/>
            </a:pPr>
            <a:r>
              <a:rPr lang="en-US" sz="1900" dirty="0">
                <a:solidFill>
                  <a:srgbClr val="161616"/>
                </a:solidFill>
                <a:latin typeface="Nunito Sans" pitchFamily="34" charset="0"/>
                <a:ea typeface="Nunito Sans" pitchFamily="34" charset="-122"/>
                <a:cs typeface="Nunito Sans" pitchFamily="34" charset="-120"/>
              </a:rPr>
              <a:t>Badgers are mammals that live in underground homes called setts. They are powerful diggers with long claws. When threatened, a badger can fly short distances to escape. American badgers are found across Texas. A badger's favorite food is pizza. Badgers are nocturnal, which means they are most active during the day.</a:t>
            </a:r>
            <a:endParaRPr lang="en-US" sz="1900" dirty="0"/>
          </a:p>
        </p:txBody>
      </p:sp>
      <p:pic>
        <p:nvPicPr>
          <p:cNvPr id="7" name="Image 0" descr="Willkie Badgers W logo"/>
          <p:cNvPicPr>
            <a:picLocks noChangeAspect="1"/>
          </p:cNvPicPr>
          <p:nvPr/>
        </p:nvPicPr>
        <p:blipFill>
          <a:blip r:embed="rId3"/>
          <a:srcRect t="-1974" b="-1974"/>
          <a:stretch/>
        </p:blipFill>
        <p:spPr>
          <a:xfrm>
            <a:off x="9093200" y="2882801"/>
            <a:ext cx="2286000" cy="2286000"/>
          </a:xfrm>
          <a:prstGeom prst="rect">
            <a:avLst/>
          </a:prstGeom>
        </p:spPr>
      </p:pic>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3EE"/>
                </a:solidFill>
                <a:latin typeface="Nunito Sans" pitchFamily="34" charset="0"/>
                <a:ea typeface="Nunito Sans" pitchFamily="34" charset="-122"/>
                <a:cs typeface="Nunito Sans" pitchFamily="34" charset="-120"/>
              </a:rPr>
              <a:t>Ed Willkie Badgers · Career Day</a:t>
            </a:r>
            <a:endParaRPr lang="en-US" sz="1200" dirty="0"/>
          </a:p>
        </p:txBody>
      </p:sp>
      <p:sp>
        <p:nvSpPr>
          <p:cNvPr id="509" name="Mistake 1"/>
          <p:cNvSpPr/>
          <p:nvPr/>
        </p:nvSpPr>
        <p:spPr>
          <a:xfrm>
            <a:off x="812902" y="5532120"/>
            <a:ext cx="2505456" cy="530352"/>
          </a:xfrm>
          <a:prstGeom prst="roundRect">
            <a:avLst>
              <a:gd name="adj" fmla="val 7576"/>
            </a:avLst>
          </a:prstGeom>
          <a:solidFill>
            <a:srgbClr val="FFFFFF"/>
          </a:solidFill>
          <a:ln/>
        </p:spPr>
        <p:txBody>
          <a:bodyPr/>
          <a:lstStyle/>
          <a:p>
            <a:endParaRPr lang="en-US"/>
          </a:p>
        </p:txBody>
      </p:sp>
      <p:sp>
        <p:nvSpPr>
          <p:cNvPr id="510" name="Mistake 1 text"/>
          <p:cNvSpPr txBox="1"/>
          <p:nvPr/>
        </p:nvSpPr>
        <p:spPr>
          <a:xfrm>
            <a:off x="812902" y="5532120"/>
            <a:ext cx="2505456" cy="530352"/>
          </a:xfrm>
          <a:prstGeom prst="rect">
            <a:avLst/>
          </a:prstGeom>
          <a:noFill/>
          <a:ln/>
        </p:spPr>
        <p:txBody>
          <a:bodyPr wrap="square" lIns="137160" tIns="0" rIns="137160" bIns="0" rtlCol="0" anchor="ctr">
            <a:normAutofit/>
          </a:bodyPr>
          <a:lstStyle/>
          <a:p>
            <a:pPr marL="0" indent="0" algn="l">
              <a:buNone/>
            </a:pPr>
            <a:r>
              <a:rPr lang="en-US" sz="2000" b="1" dirty="0">
                <a:solidFill>
                  <a:srgbClr val="D21F2B"/>
                </a:solidFill>
                <a:latin typeface="Oswald" pitchFamily="34" charset="0"/>
                <a:ea typeface="Oswald" pitchFamily="34" charset="-122"/>
                <a:cs typeface="Oswald" pitchFamily="34" charset="-120"/>
              </a:rPr>
              <a:t>1</a:t>
            </a:r>
            <a:r>
              <a:rPr lang="en-US" sz="1400" b="1" dirty="0">
                <a:solidFill>
                  <a:srgbClr val="161616"/>
                </a:solidFill>
                <a:latin typeface="Nunito Sans" pitchFamily="34" charset="0"/>
                <a:ea typeface="Nunito Sans" pitchFamily="34" charset="-122"/>
                <a:cs typeface="Nunito Sans" pitchFamily="34" charset="-120"/>
              </a:rPr>
              <a:t>  Mistake  _________</a:t>
            </a:r>
          </a:p>
        </p:txBody>
      </p:sp>
      <p:sp>
        <p:nvSpPr>
          <p:cNvPr id="511" name="Mistake 2"/>
          <p:cNvSpPr/>
          <p:nvPr/>
        </p:nvSpPr>
        <p:spPr>
          <a:xfrm>
            <a:off x="3546958" y="5532120"/>
            <a:ext cx="2505456" cy="530352"/>
          </a:xfrm>
          <a:prstGeom prst="roundRect">
            <a:avLst>
              <a:gd name="adj" fmla="val 7576"/>
            </a:avLst>
          </a:prstGeom>
          <a:solidFill>
            <a:srgbClr val="FFFFFF"/>
          </a:solidFill>
          <a:ln/>
        </p:spPr>
        <p:txBody>
          <a:bodyPr/>
          <a:lstStyle/>
          <a:p>
            <a:endParaRPr lang="en-US"/>
          </a:p>
        </p:txBody>
      </p:sp>
      <p:sp>
        <p:nvSpPr>
          <p:cNvPr id="512" name="Mistake 2 text"/>
          <p:cNvSpPr txBox="1"/>
          <p:nvPr/>
        </p:nvSpPr>
        <p:spPr>
          <a:xfrm>
            <a:off x="3546958" y="5532120"/>
            <a:ext cx="2505456" cy="530352"/>
          </a:xfrm>
          <a:prstGeom prst="rect">
            <a:avLst/>
          </a:prstGeom>
          <a:noFill/>
          <a:ln/>
        </p:spPr>
        <p:txBody>
          <a:bodyPr wrap="square" lIns="137160" tIns="0" rIns="137160" bIns="0" rtlCol="0" anchor="ctr">
            <a:normAutofit/>
          </a:bodyPr>
          <a:lstStyle/>
          <a:p>
            <a:pPr marL="0" indent="0" algn="l">
              <a:buNone/>
            </a:pPr>
            <a:r>
              <a:rPr lang="en-US" sz="2000" b="1" dirty="0">
                <a:solidFill>
                  <a:srgbClr val="D21F2B"/>
                </a:solidFill>
                <a:latin typeface="Oswald" pitchFamily="34" charset="0"/>
                <a:ea typeface="Oswald" pitchFamily="34" charset="-122"/>
                <a:cs typeface="Oswald" pitchFamily="34" charset="-120"/>
              </a:rPr>
              <a:t>2</a:t>
            </a:r>
            <a:r>
              <a:rPr lang="en-US" sz="1400" b="1" dirty="0">
                <a:solidFill>
                  <a:srgbClr val="161616"/>
                </a:solidFill>
                <a:latin typeface="Nunito Sans" pitchFamily="34" charset="0"/>
                <a:ea typeface="Nunito Sans" pitchFamily="34" charset="-122"/>
                <a:cs typeface="Nunito Sans" pitchFamily="34" charset="-120"/>
              </a:rPr>
              <a:t>  Mistake  _________</a:t>
            </a:r>
          </a:p>
        </p:txBody>
      </p:sp>
      <p:sp>
        <p:nvSpPr>
          <p:cNvPr id="513" name="Mistake 3"/>
          <p:cNvSpPr/>
          <p:nvPr/>
        </p:nvSpPr>
        <p:spPr>
          <a:xfrm>
            <a:off x="6281014" y="5532120"/>
            <a:ext cx="2505456" cy="530352"/>
          </a:xfrm>
          <a:prstGeom prst="roundRect">
            <a:avLst>
              <a:gd name="adj" fmla="val 7576"/>
            </a:avLst>
          </a:prstGeom>
          <a:solidFill>
            <a:srgbClr val="FFFFFF"/>
          </a:solidFill>
          <a:ln/>
        </p:spPr>
        <p:txBody>
          <a:bodyPr/>
          <a:lstStyle/>
          <a:p>
            <a:endParaRPr lang="en-US"/>
          </a:p>
        </p:txBody>
      </p:sp>
      <p:sp>
        <p:nvSpPr>
          <p:cNvPr id="514" name="Mistake 3 text"/>
          <p:cNvSpPr txBox="1"/>
          <p:nvPr/>
        </p:nvSpPr>
        <p:spPr>
          <a:xfrm>
            <a:off x="6281014" y="5532120"/>
            <a:ext cx="2505456" cy="530352"/>
          </a:xfrm>
          <a:prstGeom prst="rect">
            <a:avLst/>
          </a:prstGeom>
          <a:noFill/>
          <a:ln/>
        </p:spPr>
        <p:txBody>
          <a:bodyPr wrap="square" lIns="137160" tIns="0" rIns="137160" bIns="0" rtlCol="0" anchor="ctr">
            <a:normAutofit/>
          </a:bodyPr>
          <a:lstStyle/>
          <a:p>
            <a:pPr marL="0" indent="0" algn="l">
              <a:buNone/>
            </a:pPr>
            <a:r>
              <a:rPr lang="en-US" sz="2000" b="1" dirty="0">
                <a:solidFill>
                  <a:srgbClr val="D21F2B"/>
                </a:solidFill>
                <a:latin typeface="Oswald" pitchFamily="34" charset="0"/>
                <a:ea typeface="Oswald" pitchFamily="34" charset="-122"/>
                <a:cs typeface="Oswald" pitchFamily="34" charset="-120"/>
              </a:rPr>
              <a:t>3</a:t>
            </a:r>
            <a:r>
              <a:rPr lang="en-US" sz="1400" b="1" dirty="0">
                <a:solidFill>
                  <a:srgbClr val="161616"/>
                </a:solidFill>
                <a:latin typeface="Nunito Sans" pitchFamily="34" charset="0"/>
                <a:ea typeface="Nunito Sans" pitchFamily="34" charset="-122"/>
                <a:cs typeface="Nunito Sans" pitchFamily="34" charset="-120"/>
              </a:rPr>
              <a:t>  Mistake  _________</a:t>
            </a:r>
          </a:p>
        </p:txBody>
      </p:sp>
      <p:sp>
        <p:nvSpPr>
          <p:cNvPr id="515" name="How do you know"/>
          <p:cNvSpPr/>
          <p:nvPr/>
        </p:nvSpPr>
        <p:spPr>
          <a:xfrm>
            <a:off x="9092794" y="5532120"/>
            <a:ext cx="2286000" cy="530352"/>
          </a:xfrm>
          <a:prstGeom prst="roundRect">
            <a:avLst>
              <a:gd name="adj" fmla="val 7576"/>
            </a:avLst>
          </a:prstGeom>
          <a:solidFill>
            <a:srgbClr val="161616"/>
          </a:solidFill>
          <a:ln/>
        </p:spPr>
        <p:txBody>
          <a:bodyPr/>
          <a:lstStyle/>
          <a:p>
            <a:endParaRPr lang="en-US"/>
          </a:p>
        </p:txBody>
      </p:sp>
      <p:sp>
        <p:nvSpPr>
          <p:cNvPr id="516" name="How do you know text"/>
          <p:cNvSpPr txBox="1"/>
          <p:nvPr/>
        </p:nvSpPr>
        <p:spPr>
          <a:xfrm>
            <a:off x="9092794" y="5532120"/>
            <a:ext cx="2286000" cy="530352"/>
          </a:xfrm>
          <a:prstGeom prst="rect">
            <a:avLst/>
          </a:prstGeom>
          <a:noFill/>
          <a:ln/>
        </p:spPr>
        <p:txBody>
          <a:bodyPr wrap="square" lIns="0" tIns="0" rIns="0" bIns="0" rtlCol="0" anchor="ctr">
            <a:normAutofit/>
          </a:bodyPr>
          <a:lstStyle/>
          <a:p>
            <a:pPr marL="0" indent="0" algn="ctr">
              <a:buNone/>
            </a:pPr>
            <a:r>
              <a:rPr lang="en-US" sz="1400" b="1" spc="100" dirty="0">
                <a:solidFill>
                  <a:srgbClr val="F6F3EE"/>
                </a:solidFill>
                <a:latin typeface="Nunito Sans" pitchFamily="34" charset="0"/>
                <a:ea typeface="Nunito Sans" pitchFamily="34" charset="-122"/>
                <a:cs typeface="Nunito Sans" pitchFamily="34" charset="-120"/>
              </a:rPr>
              <a:t>HOW DO YOU KNOW?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616"/>
        </a:solidFill>
        <a:effectLst/>
      </p:bgPr>
    </p:bg>
    <p:spTree>
      <p:nvGrpSpPr>
        <p:cNvPr id="1" name=""/>
        <p:cNvGrpSpPr/>
        <p:nvPr/>
      </p:nvGrpSpPr>
      <p:grpSpPr>
        <a:xfrm>
          <a:off x="0" y="0"/>
          <a:ext cx="0" cy="0"/>
          <a:chOff x="0" y="0"/>
          <a:chExt cx="0" cy="0"/>
        </a:xfrm>
      </p:grpSpPr>
      <p:sp>
        <p:nvSpPr>
          <p:cNvPr id="2" name="Text 0"/>
          <p:cNvSpPr/>
          <p:nvPr/>
        </p:nvSpPr>
        <p:spPr>
          <a:xfrm>
            <a:off x="812800" y="129798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SAY IT WITH ME</a:t>
            </a:r>
            <a:endParaRPr lang="en-US" sz="1400" dirty="0"/>
          </a:p>
        </p:txBody>
      </p:sp>
      <p:sp>
        <p:nvSpPr>
          <p:cNvPr id="3" name="Text 1"/>
          <p:cNvSpPr/>
          <p:nvPr/>
        </p:nvSpPr>
        <p:spPr>
          <a:xfrm>
            <a:off x="812800" y="185162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3EE"/>
                </a:solidFill>
                <a:latin typeface="Oswald" pitchFamily="34" charset="0"/>
                <a:ea typeface="Oswald" pitchFamily="34" charset="-122"/>
                <a:cs typeface="Oswald" pitchFamily="34" charset="-120"/>
              </a:rPr>
              <a:t>AI LEARNS PATTERNS FROM DATA, SO IT CAN BE WRONG.</a:t>
            </a:r>
            <a:endParaRPr lang="en-US" sz="6000" dirty="0"/>
          </a:p>
        </p:txBody>
      </p:sp>
      <p:sp>
        <p:nvSpPr>
          <p:cNvPr id="4" name="Text 2"/>
          <p:cNvSpPr/>
          <p:nvPr/>
        </p:nvSpPr>
        <p:spPr>
          <a:xfrm>
            <a:off x="812800" y="375662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D21F2B"/>
                </a:solidFill>
                <a:latin typeface="Oswald" pitchFamily="34" charset="0"/>
                <a:ea typeface="Oswald" pitchFamily="34" charset="-122"/>
                <a:cs typeface="Oswald" pitchFamily="34" charset="-120"/>
              </a:rPr>
              <a:t>CHECK IT. PROTECT YOURSELF. KEEP THINKING.</a:t>
            </a:r>
            <a:endParaRPr lang="en-US" sz="60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E"/>
        </a:solidFill>
        <a:effectLst/>
      </p:bgPr>
    </p:bg>
    <p:spTree>
      <p:nvGrpSpPr>
        <p:cNvPr id="1" name=""/>
        <p:cNvGrpSpPr/>
        <p:nvPr/>
      </p:nvGrpSpPr>
      <p:grpSpPr>
        <a:xfrm>
          <a:off x="0" y="0"/>
          <a:ext cx="0" cy="0"/>
          <a:chOff x="0" y="0"/>
          <a:chExt cx="0" cy="0"/>
        </a:xfrm>
      </p:grpSpPr>
      <p:sp>
        <p:nvSpPr>
          <p:cNvPr id="2" name="Text 0"/>
          <p:cNvSpPr/>
          <p:nvPr/>
        </p:nvSpPr>
        <p:spPr>
          <a:xfrm>
            <a:off x="812800" y="1847949"/>
            <a:ext cx="732536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LAST 6 MINUTES</a:t>
            </a:r>
            <a:endParaRPr lang="en-US" sz="1400" dirty="0"/>
          </a:p>
        </p:txBody>
      </p:sp>
      <p:sp>
        <p:nvSpPr>
          <p:cNvPr id="3" name="Text 1"/>
          <p:cNvSpPr>
            <a:spLocks noGrp="1"/>
          </p:cNvSpPr>
          <p:nvPr>
            <p:ph type="title"/>
          </p:nvPr>
        </p:nvSpPr>
        <p:spPr>
          <a:xfrm>
            <a:off x="812800" y="2350790"/>
            <a:ext cx="7325360" cy="787400"/>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161616"/>
                </a:solidFill>
                <a:latin typeface="Oswald" pitchFamily="34" charset="0"/>
                <a:ea typeface="Oswald" pitchFamily="34" charset="-122"/>
                <a:cs typeface="Oswald" pitchFamily="34" charset="-120"/>
              </a:rPr>
              <a:t>ASK ME ANYTHING</a:t>
            </a:r>
            <a:endParaRPr lang="en-US" sz="6000" dirty="0"/>
          </a:p>
        </p:txBody>
      </p:sp>
      <p:sp>
        <p:nvSpPr>
          <p:cNvPr id="4" name="Text 2"/>
          <p:cNvSpPr/>
          <p:nvPr/>
        </p:nvSpPr>
        <p:spPr>
          <a:xfrm>
            <a:off x="812800" y="3366790"/>
            <a:ext cx="7325360"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4A4A4A"/>
                </a:solidFill>
                <a:latin typeface="Nunito Sans" pitchFamily="34" charset="0"/>
                <a:ea typeface="Nunito Sans" pitchFamily="34" charset="-122"/>
                <a:cs typeface="Nunito Sans" pitchFamily="34" charset="-120"/>
              </a:rPr>
              <a:t>Then: Badger trivia.</a:t>
            </a:r>
            <a:endParaRPr lang="en-US" sz="2200" dirty="0"/>
          </a:p>
        </p:txBody>
      </p:sp>
      <p:sp>
        <p:nvSpPr>
          <p:cNvPr id="5" name="Text 3"/>
          <p:cNvSpPr/>
          <p:nvPr/>
        </p:nvSpPr>
        <p:spPr>
          <a:xfrm>
            <a:off x="812800" y="4237930"/>
            <a:ext cx="732536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A4A"/>
                </a:solidFill>
                <a:latin typeface="Nunito Sans" pitchFamily="34" charset="0"/>
                <a:ea typeface="Nunito Sans" pitchFamily="34" charset="-122"/>
                <a:cs typeface="Nunito Sans" pitchFamily="34" charset="-120"/>
              </a:rPr>
              <a:t>Thank you, Badgers. Thank you, PATHS.</a:t>
            </a:r>
            <a:endParaRPr lang="en-US" sz="1600" dirty="0"/>
          </a:p>
          <a:p>
            <a:pPr marL="0" indent="0" algn="l">
              <a:lnSpc>
                <a:spcPts val="2240"/>
              </a:lnSpc>
              <a:buNone/>
            </a:pPr>
            <a:r>
              <a:rPr lang="en-US" sz="1600" dirty="0">
                <a:solidFill>
                  <a:srgbClr val="4A4A4A"/>
                </a:solidFill>
                <a:latin typeface="Nunito Sans" pitchFamily="34" charset="0"/>
                <a:ea typeface="Nunito Sans" pitchFamily="34" charset="-122"/>
                <a:cs typeface="Nunito Sans" pitchFamily="34" charset="-120"/>
              </a:rPr>
              <a:t>Stay curious, and go catch an AI being wrong.</a:t>
            </a:r>
            <a:endParaRPr lang="en-US" sz="1600" dirty="0"/>
          </a:p>
        </p:txBody>
      </p:sp>
      <p:pic>
        <p:nvPicPr>
          <p:cNvPr id="6" name="Image 0" descr="Willkie Badgers W logo"/>
          <p:cNvPicPr>
            <a:picLocks noChangeAspect="1"/>
          </p:cNvPicPr>
          <p:nvPr/>
        </p:nvPicPr>
        <p:blipFill>
          <a:blip r:embed="rId3"/>
          <a:srcRect l="-193" r="-193"/>
          <a:stretch/>
        </p:blipFill>
        <p:spPr>
          <a:xfrm>
            <a:off x="8331200" y="1866900"/>
            <a:ext cx="3048000" cy="2921000"/>
          </a:xfrm>
          <a:prstGeom prst="rect">
            <a:avLst/>
          </a:prstGeom>
        </p:spPr>
      </p:pic>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2nd Annual College &amp; Career Day · Sponsored by PATHS · Ed Willkie Middle School</a:t>
            </a:r>
            <a:endParaRPr lang="en-US" sz="1200" dirty="0"/>
          </a:p>
        </p:txBody>
      </p:sp>
      <p:sp>
        <p:nvSpPr>
          <p:cNvPr id="517" name="Chat card"/>
          <p:cNvSpPr/>
          <p:nvPr/>
        </p:nvSpPr>
        <p:spPr>
          <a:xfrm>
            <a:off x="812902" y="4937760"/>
            <a:ext cx="7324344" cy="1097280"/>
          </a:xfrm>
          <a:prstGeom prst="roundRect">
            <a:avLst>
              <a:gd name="adj" fmla="val 7576"/>
            </a:avLst>
          </a:prstGeom>
          <a:solidFill>
            <a:srgbClr val="FFFFFF"/>
          </a:solidFill>
          <a:ln w="12700">
            <a:solidFill>
              <a:srgbClr val="E4DED5"/>
            </a:solidFill>
            <a:prstDash val="solid"/>
          </a:ln>
        </p:spPr>
        <p:txBody>
          <a:bodyPr/>
          <a:lstStyle/>
          <a:p>
            <a:endParaRPr lang="en-US"/>
          </a:p>
        </p:txBody>
      </p:sp>
      <p:pic>
        <p:nvPicPr>
          <p:cNvPr id="518" name="ChatQr 16" descr="QR code for the Willkie Badger AI chat page"/>
          <p:cNvPicPr>
            <a:picLocks noChangeAspect="1"/>
          </p:cNvPicPr>
          <p:nvPr/>
        </p:nvPicPr>
        <p:blipFill>
          <a:blip r:embed="rId4"/>
          <a:stretch>
            <a:fillRect/>
          </a:stretch>
        </p:blipFill>
        <p:spPr>
          <a:xfrm>
            <a:off x="932688" y="5029200"/>
            <a:ext cx="914400" cy="914400"/>
          </a:xfrm>
          <a:prstGeom prst="rect">
            <a:avLst/>
          </a:prstGeom>
        </p:spPr>
      </p:pic>
      <p:sp>
        <p:nvSpPr>
          <p:cNvPr id="519" name="Chat title"/>
          <p:cNvSpPr txBox="1"/>
          <p:nvPr/>
        </p:nvSpPr>
        <p:spPr>
          <a:xfrm>
            <a:off x="2057400" y="5084064"/>
            <a:ext cx="5943600" cy="292608"/>
          </a:xfrm>
          <a:prstGeom prst="rect">
            <a:avLst/>
          </a:prstGeom>
          <a:noFill/>
          <a:ln/>
        </p:spPr>
        <p:txBody>
          <a:bodyPr wrap="square" lIns="0" tIns="0" rIns="0" bIns="0" rtlCol="0" anchor="t">
            <a:normAutofit/>
          </a:bodyPr>
          <a:lstStyle/>
          <a:p>
            <a:pPr marL="0" indent="0" algn="l">
              <a:buNone/>
            </a:pPr>
            <a:r>
              <a:rPr lang="en-US" sz="1700" b="1" dirty="0">
                <a:solidFill>
                  <a:srgbClr val="161616"/>
                </a:solidFill>
                <a:latin typeface="Nunito Sans" pitchFamily="34" charset="0"/>
                <a:ea typeface="Nunito Sans" pitchFamily="34" charset="-122"/>
                <a:cs typeface="Nunito Sans" pitchFamily="34" charset="-120"/>
              </a:rPr>
              <a:t>Keep chatting with Willkie Badger AI</a:t>
            </a:r>
          </a:p>
        </p:txBody>
      </p:sp>
      <p:sp>
        <p:nvSpPr>
          <p:cNvPr id="520" name="ChatUrl 16"/>
          <p:cNvSpPr txBox="1"/>
          <p:nvPr/>
        </p:nvSpPr>
        <p:spPr>
          <a:xfrm>
            <a:off x="2057400" y="5394960"/>
            <a:ext cx="5943600" cy="292608"/>
          </a:xfrm>
          <a:prstGeom prst="rect">
            <a:avLst/>
          </a:prstGeom>
          <a:noFill/>
          <a:ln/>
        </p:spPr>
        <p:txBody>
          <a:bodyPr wrap="square" lIns="0" tIns="0" rIns="0" bIns="0" rtlCol="0" anchor="t">
            <a:normAutofit/>
          </a:bodyPr>
          <a:lstStyle/>
          <a:p>
            <a:pPr marL="0" indent="0" algn="l">
              <a:buNone/>
            </a:pPr>
            <a:r>
              <a:rPr lang="en-US" sz="1500" b="1" dirty="0">
                <a:solidFill>
                  <a:srgbClr val="D21F2B"/>
                </a:solidFill>
                <a:latin typeface="Nunito Sans" pitchFamily="34" charset="0"/>
                <a:ea typeface="Nunito Sans" pitchFamily="34" charset="-122"/>
                <a:cs typeface="Nunito Sans" pitchFamily="34" charset="-120"/>
              </a:rPr>
              <a:t>YOUR-CLOUD-RUN-URL.a.run.app</a:t>
            </a:r>
          </a:p>
        </p:txBody>
      </p:sp>
      <p:sp>
        <p:nvSpPr>
          <p:cNvPr id="521" name="Chat hint"/>
          <p:cNvSpPr txBox="1"/>
          <p:nvPr/>
        </p:nvSpPr>
        <p:spPr>
          <a:xfrm>
            <a:off x="2057400" y="5687568"/>
            <a:ext cx="5943600" cy="256032"/>
          </a:xfrm>
          <a:prstGeom prst="rect">
            <a:avLst/>
          </a:prstGeom>
          <a:noFill/>
          <a:ln/>
        </p:spPr>
        <p:txBody>
          <a:bodyPr wrap="square" lIns="0" tIns="0" rIns="0" bIns="0" rtlCol="0" anchor="t">
            <a:normAutofit/>
          </a:bodyPr>
          <a:lstStyle/>
          <a:p>
            <a:pPr marL="0" indent="0" algn="l">
              <a:buNone/>
            </a:pPr>
            <a:r>
              <a:rPr lang="en-US" sz="1100" dirty="0">
                <a:solidFill>
                  <a:srgbClr val="8F8A82"/>
                </a:solidFill>
                <a:latin typeface="Nunito Sans" pitchFamily="34" charset="0"/>
                <a:ea typeface="Nunito Sans" pitchFamily="34" charset="-122"/>
                <a:cs typeface="Nunito Sans" pitchFamily="34" charset="-120"/>
              </a:rPr>
              <a:t>Scan the code. No login, no names, nothing saved. Ask it how it works.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1616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21F2B"/>
                </a:solidFill>
                <a:latin typeface="Nunito Sans" pitchFamily="34" charset="0"/>
                <a:ea typeface="Nunito Sans" pitchFamily="34" charset="-122"/>
                <a:cs typeface="Nunito Sans" pitchFamily="34" charset="-120"/>
              </a:rPr>
              <a:t>THE CHATBOT YOU JUST USED, AS A BLUEPRINT</a:t>
            </a:r>
            <a:endParaRPr lang="en-US" sz="1400" dirty="0"/>
          </a:p>
        </p:txBody>
      </p:sp>
      <p:sp>
        <p:nvSpPr>
          <p:cNvPr id="3" name="Text 1"/>
          <p:cNvSpPr>
            <a:spLocks noGrp="1"/>
          </p:cNvSpPr>
          <p:nvPr>
            <p:ph type="title"/>
          </p:nvPr>
        </p:nvSpPr>
        <p:spPr>
          <a:xfrm>
            <a:off x="812800" y="1315641"/>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3EE"/>
                </a:solidFill>
                <a:latin typeface="Oswald" pitchFamily="34" charset="0"/>
                <a:ea typeface="Oswald" pitchFamily="34" charset="-122"/>
                <a:cs typeface="Oswald" pitchFamily="34" charset="-120"/>
              </a:rPr>
              <a:t>THE PLAN I DREW FOR BADGER AI</a:t>
            </a:r>
            <a:endParaRPr lang="en-US" sz="48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8A82"/>
                </a:solidFill>
                <a:latin typeface="Nunito Sans" pitchFamily="34" charset="0"/>
                <a:ea typeface="Nunito Sans" pitchFamily="34" charset="-122"/>
                <a:cs typeface="Nunito Sans" pitchFamily="34" charset="-120"/>
              </a:rPr>
              <a:t>Ed Willkie Badgers · Career Day</a:t>
            </a:r>
            <a:endParaRPr lang="en-US" sz="1200" dirty="0"/>
          </a:p>
        </p:txBody>
      </p:sp>
      <p:sp>
        <p:nvSpPr>
          <p:cNvPr id="522" name="Image frame"/>
          <p:cNvSpPr/>
          <p:nvPr/>
        </p:nvSpPr>
        <p:spPr>
          <a:xfrm>
            <a:off x="758038" y="2185416"/>
            <a:ext cx="7013448" cy="3537425"/>
          </a:xfrm>
          <a:prstGeom prst="roundRect">
            <a:avLst>
              <a:gd name="adj" fmla="val 3000"/>
            </a:avLst>
          </a:prstGeom>
          <a:solidFill>
            <a:srgbClr val="242424"/>
          </a:solidFill>
          <a:ln/>
        </p:spPr>
        <p:txBody>
          <a:bodyPr/>
          <a:lstStyle/>
          <a:p>
            <a:endParaRPr lang="en-US"/>
          </a:p>
        </p:txBody>
      </p:sp>
      <p:pic>
        <p:nvPicPr>
          <p:cNvPr id="523" name="Architecture" descr="Google Cloud agent architecture: user, client, agent, Gemini, data, Cloud Run"/>
          <p:cNvPicPr>
            <a:picLocks noChangeAspect="1"/>
          </p:cNvPicPr>
          <p:nvPr/>
        </p:nvPicPr>
        <p:blipFill>
          <a:blip r:embed="rId5"/>
          <a:stretch>
            <a:fillRect/>
          </a:stretch>
        </p:blipFill>
        <p:spPr>
          <a:xfrm>
            <a:off x="812902" y="2240280"/>
            <a:ext cx="6903720" cy="3427697"/>
          </a:xfrm>
          <a:prstGeom prst="rect">
            <a:avLst/>
          </a:prstGeom>
        </p:spPr>
      </p:pic>
      <p:sp>
        <p:nvSpPr>
          <p:cNvPr id="524" name="Sticker 1a"/>
          <p:cNvSpPr/>
          <p:nvPr/>
        </p:nvSpPr>
        <p:spPr>
          <a:xfrm>
            <a:off x="889757" y="3097256"/>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1</a:t>
            </a:r>
          </a:p>
        </p:txBody>
      </p:sp>
      <p:sp>
        <p:nvSpPr>
          <p:cNvPr id="525" name="Sticker 2a"/>
          <p:cNvSpPr/>
          <p:nvPr/>
        </p:nvSpPr>
        <p:spPr>
          <a:xfrm>
            <a:off x="2021967" y="3566709"/>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2</a:t>
            </a:r>
          </a:p>
        </p:txBody>
      </p:sp>
      <p:sp>
        <p:nvSpPr>
          <p:cNvPr id="526" name="Sticker 3a"/>
          <p:cNvSpPr/>
          <p:nvPr/>
        </p:nvSpPr>
        <p:spPr>
          <a:xfrm>
            <a:off x="3782416" y="2510439"/>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3</a:t>
            </a:r>
          </a:p>
        </p:txBody>
      </p:sp>
      <p:sp>
        <p:nvSpPr>
          <p:cNvPr id="527" name="Sticker 4a"/>
          <p:cNvSpPr/>
          <p:nvPr/>
        </p:nvSpPr>
        <p:spPr>
          <a:xfrm>
            <a:off x="5770687" y="2206676"/>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4</a:t>
            </a:r>
          </a:p>
        </p:txBody>
      </p:sp>
      <p:sp>
        <p:nvSpPr>
          <p:cNvPr id="528" name="Sticker 5a"/>
          <p:cNvSpPr/>
          <p:nvPr/>
        </p:nvSpPr>
        <p:spPr>
          <a:xfrm>
            <a:off x="2021967" y="4616074"/>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5</a:t>
            </a:r>
          </a:p>
        </p:txBody>
      </p:sp>
      <p:sp>
        <p:nvSpPr>
          <p:cNvPr id="529" name="Sticker 6a"/>
          <p:cNvSpPr/>
          <p:nvPr/>
        </p:nvSpPr>
        <p:spPr>
          <a:xfrm>
            <a:off x="5770687" y="3345790"/>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6</a:t>
            </a:r>
          </a:p>
        </p:txBody>
      </p:sp>
      <p:sp>
        <p:nvSpPr>
          <p:cNvPr id="530" name="Sticker 6b"/>
          <p:cNvSpPr/>
          <p:nvPr/>
        </p:nvSpPr>
        <p:spPr>
          <a:xfrm>
            <a:off x="5770687" y="4502163"/>
            <a:ext cx="274320" cy="274320"/>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6</a:t>
            </a:r>
          </a:p>
        </p:txBody>
      </p:sp>
      <p:sp>
        <p:nvSpPr>
          <p:cNvPr id="531" name="Legend 1"/>
          <p:cNvSpPr/>
          <p:nvPr/>
        </p:nvSpPr>
        <p:spPr>
          <a:xfrm>
            <a:off x="8001000" y="2286000"/>
            <a:ext cx="310896" cy="310896"/>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1</a:t>
            </a:r>
          </a:p>
        </p:txBody>
      </p:sp>
      <p:sp>
        <p:nvSpPr>
          <p:cNvPr id="532" name="Legend 1 label"/>
          <p:cNvSpPr txBox="1"/>
          <p:nvPr/>
        </p:nvSpPr>
        <p:spPr>
          <a:xfrm>
            <a:off x="8430768" y="2240280"/>
            <a:ext cx="2944368" cy="27432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You</a:t>
            </a:r>
          </a:p>
        </p:txBody>
      </p:sp>
      <p:sp>
        <p:nvSpPr>
          <p:cNvPr id="533" name="Legend 1 desc"/>
          <p:cNvSpPr txBox="1"/>
          <p:nvPr/>
        </p:nvSpPr>
        <p:spPr>
          <a:xfrm>
            <a:off x="8430768" y="2514600"/>
            <a:ext cx="2944368" cy="256032"/>
          </a:xfrm>
          <a:prstGeom prst="rect">
            <a:avLst/>
          </a:prstGeom>
          <a:noFill/>
          <a:ln/>
        </p:spPr>
        <p:txBody>
          <a:bodyPr wrap="square" lIns="0" tIns="0" rIns="0" bIns="0" rtlCol="0" anchor="t">
            <a:normAutofit/>
          </a:bodyPr>
          <a:lstStyle/>
          <a:p>
            <a:pPr marL="0" indent="0" algn="l">
              <a:buNone/>
            </a:pPr>
            <a:r>
              <a:rPr lang="en-US" sz="1300" dirty="0">
                <a:solidFill>
                  <a:srgbClr val="8F8A82"/>
                </a:solidFill>
                <a:latin typeface="Nunito Sans" pitchFamily="34" charset="0"/>
                <a:ea typeface="Nunito Sans" pitchFamily="34" charset="-122"/>
                <a:cs typeface="Nunito Sans" pitchFamily="34" charset="-120"/>
              </a:rPr>
              <a:t>Your question leaves the chat page.</a:t>
            </a:r>
          </a:p>
        </p:txBody>
      </p:sp>
      <p:sp>
        <p:nvSpPr>
          <p:cNvPr id="534" name="Legend 2"/>
          <p:cNvSpPr/>
          <p:nvPr/>
        </p:nvSpPr>
        <p:spPr>
          <a:xfrm>
            <a:off x="8001000" y="2857500"/>
            <a:ext cx="310896" cy="310896"/>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2</a:t>
            </a:r>
          </a:p>
        </p:txBody>
      </p:sp>
      <p:sp>
        <p:nvSpPr>
          <p:cNvPr id="535" name="Legend 2 label"/>
          <p:cNvSpPr txBox="1"/>
          <p:nvPr/>
        </p:nvSpPr>
        <p:spPr>
          <a:xfrm>
            <a:off x="8430768" y="2811780"/>
            <a:ext cx="2944368" cy="27432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The rulebook (agent)</a:t>
            </a:r>
          </a:p>
        </p:txBody>
      </p:sp>
      <p:sp>
        <p:nvSpPr>
          <p:cNvPr id="536" name="Legend 2 desc"/>
          <p:cNvSpPr txBox="1"/>
          <p:nvPr/>
        </p:nvSpPr>
        <p:spPr>
          <a:xfrm>
            <a:off x="8430768" y="3086100"/>
            <a:ext cx="2944368" cy="256032"/>
          </a:xfrm>
          <a:prstGeom prst="rect">
            <a:avLst/>
          </a:prstGeom>
          <a:noFill/>
          <a:ln/>
        </p:spPr>
        <p:txBody>
          <a:bodyPr wrap="square" lIns="0" tIns="0" rIns="0" bIns="0" rtlCol="0" anchor="t">
            <a:normAutofit/>
          </a:bodyPr>
          <a:lstStyle/>
          <a:p>
            <a:pPr marL="0" indent="0" algn="l">
              <a:buNone/>
            </a:pPr>
            <a:r>
              <a:rPr lang="en-US" sz="1300" dirty="0">
                <a:solidFill>
                  <a:srgbClr val="8F8A82"/>
                </a:solidFill>
                <a:latin typeface="Nunito Sans" pitchFamily="34" charset="0"/>
                <a:ea typeface="Nunito Sans" pitchFamily="34" charset="-122"/>
                <a:cs typeface="Nunito Sans" pitchFamily="34" charset="-120"/>
              </a:rPr>
              <a:t>Rules written in plain English.</a:t>
            </a:r>
          </a:p>
        </p:txBody>
      </p:sp>
      <p:sp>
        <p:nvSpPr>
          <p:cNvPr id="537" name="Legend 3"/>
          <p:cNvSpPr/>
          <p:nvPr/>
        </p:nvSpPr>
        <p:spPr>
          <a:xfrm>
            <a:off x="8001000" y="3429000"/>
            <a:ext cx="310896" cy="310896"/>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3</a:t>
            </a:r>
          </a:p>
        </p:txBody>
      </p:sp>
      <p:sp>
        <p:nvSpPr>
          <p:cNvPr id="538" name="Legend 3 label"/>
          <p:cNvSpPr txBox="1"/>
          <p:nvPr/>
        </p:nvSpPr>
        <p:spPr>
          <a:xfrm>
            <a:off x="8430768" y="3383280"/>
            <a:ext cx="2944368" cy="27432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The brain (Gemini)</a:t>
            </a:r>
          </a:p>
        </p:txBody>
      </p:sp>
      <p:sp>
        <p:nvSpPr>
          <p:cNvPr id="539" name="Legend 3 desc"/>
          <p:cNvSpPr txBox="1"/>
          <p:nvPr/>
        </p:nvSpPr>
        <p:spPr>
          <a:xfrm>
            <a:off x="8430768" y="3657600"/>
            <a:ext cx="2944368" cy="256032"/>
          </a:xfrm>
          <a:prstGeom prst="rect">
            <a:avLst/>
          </a:prstGeom>
          <a:noFill/>
          <a:ln/>
        </p:spPr>
        <p:txBody>
          <a:bodyPr wrap="square" lIns="0" tIns="0" rIns="0" bIns="0" rtlCol="0" anchor="t">
            <a:normAutofit/>
          </a:bodyPr>
          <a:lstStyle/>
          <a:p>
            <a:pPr marL="0" indent="0" algn="l">
              <a:buNone/>
            </a:pPr>
            <a:r>
              <a:rPr lang="en-US" sz="1300" dirty="0">
                <a:solidFill>
                  <a:srgbClr val="8F8A82"/>
                </a:solidFill>
                <a:latin typeface="Nunito Sans" pitchFamily="34" charset="0"/>
                <a:ea typeface="Nunito Sans" pitchFamily="34" charset="-122"/>
                <a:cs typeface="Nunito Sans" pitchFamily="34" charset="-120"/>
              </a:rPr>
              <a:t>Google's AI model writes the answer.</a:t>
            </a:r>
          </a:p>
        </p:txBody>
      </p:sp>
      <p:sp>
        <p:nvSpPr>
          <p:cNvPr id="540" name="Legend 4"/>
          <p:cNvSpPr/>
          <p:nvPr/>
        </p:nvSpPr>
        <p:spPr>
          <a:xfrm>
            <a:off x="8001000" y="4000500"/>
            <a:ext cx="310896" cy="310896"/>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4</a:t>
            </a:r>
          </a:p>
        </p:txBody>
      </p:sp>
      <p:sp>
        <p:nvSpPr>
          <p:cNvPr id="541" name="Legend 4 label"/>
          <p:cNvSpPr txBox="1"/>
          <p:nvPr/>
        </p:nvSpPr>
        <p:spPr>
          <a:xfrm>
            <a:off x="8430768" y="3954780"/>
            <a:ext cx="2944368" cy="27432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The library (data)</a:t>
            </a:r>
          </a:p>
        </p:txBody>
      </p:sp>
      <p:sp>
        <p:nvSpPr>
          <p:cNvPr id="542" name="Legend 4 desc"/>
          <p:cNvSpPr txBox="1"/>
          <p:nvPr/>
        </p:nvSpPr>
        <p:spPr>
          <a:xfrm>
            <a:off x="8430768" y="4229100"/>
            <a:ext cx="2944368" cy="256032"/>
          </a:xfrm>
          <a:prstGeom prst="rect">
            <a:avLst/>
          </a:prstGeom>
          <a:noFill/>
          <a:ln/>
        </p:spPr>
        <p:txBody>
          <a:bodyPr wrap="square" lIns="0" tIns="0" rIns="0" bIns="0" rtlCol="0" anchor="t">
            <a:normAutofit/>
          </a:bodyPr>
          <a:lstStyle/>
          <a:p>
            <a:pPr marL="0" indent="0" algn="l">
              <a:buNone/>
            </a:pPr>
            <a:r>
              <a:rPr lang="en-US" sz="1300" dirty="0">
                <a:solidFill>
                  <a:srgbClr val="8F8A82"/>
                </a:solidFill>
                <a:latin typeface="Nunito Sans" pitchFamily="34" charset="0"/>
                <a:ea typeface="Nunito Sans" pitchFamily="34" charset="-122"/>
                <a:cs typeface="Nunito Sans" pitchFamily="34" charset="-120"/>
              </a:rPr>
              <a:t>A saved copy of the school website.</a:t>
            </a:r>
          </a:p>
        </p:txBody>
      </p:sp>
      <p:sp>
        <p:nvSpPr>
          <p:cNvPr id="543" name="Legend 5"/>
          <p:cNvSpPr/>
          <p:nvPr/>
        </p:nvSpPr>
        <p:spPr>
          <a:xfrm>
            <a:off x="8001000" y="4572000"/>
            <a:ext cx="310896" cy="310896"/>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5</a:t>
            </a:r>
          </a:p>
        </p:txBody>
      </p:sp>
      <p:sp>
        <p:nvSpPr>
          <p:cNvPr id="544" name="Legend 5 label"/>
          <p:cNvSpPr txBox="1"/>
          <p:nvPr/>
        </p:nvSpPr>
        <p:spPr>
          <a:xfrm>
            <a:off x="8430768" y="4526280"/>
            <a:ext cx="2944368" cy="27432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Where it lives (Cloud Run)</a:t>
            </a:r>
          </a:p>
        </p:txBody>
      </p:sp>
      <p:sp>
        <p:nvSpPr>
          <p:cNvPr id="545" name="Legend 5 desc"/>
          <p:cNvSpPr txBox="1"/>
          <p:nvPr/>
        </p:nvSpPr>
        <p:spPr>
          <a:xfrm>
            <a:off x="8430768" y="4800600"/>
            <a:ext cx="2944368" cy="256032"/>
          </a:xfrm>
          <a:prstGeom prst="rect">
            <a:avLst/>
          </a:prstGeom>
          <a:noFill/>
          <a:ln/>
        </p:spPr>
        <p:txBody>
          <a:bodyPr wrap="square" lIns="0" tIns="0" rIns="0" bIns="0" rtlCol="0" anchor="t">
            <a:normAutofit/>
          </a:bodyPr>
          <a:lstStyle/>
          <a:p>
            <a:pPr marL="0" indent="0" algn="l">
              <a:buNone/>
            </a:pPr>
            <a:r>
              <a:rPr lang="en-US" sz="1300" dirty="0">
                <a:solidFill>
                  <a:srgbClr val="8F8A82"/>
                </a:solidFill>
                <a:latin typeface="Nunito Sans" pitchFamily="34" charset="0"/>
                <a:ea typeface="Nunito Sans" pitchFamily="34" charset="-122"/>
                <a:cs typeface="Nunito Sans" pitchFamily="34" charset="-120"/>
              </a:rPr>
              <a:t>A Google building rents it by the second.</a:t>
            </a:r>
          </a:p>
        </p:txBody>
      </p:sp>
      <p:sp>
        <p:nvSpPr>
          <p:cNvPr id="546" name="Legend 6"/>
          <p:cNvSpPr/>
          <p:nvPr/>
        </p:nvSpPr>
        <p:spPr>
          <a:xfrm>
            <a:off x="8001000" y="5143500"/>
            <a:ext cx="310896" cy="310896"/>
          </a:xfrm>
          <a:prstGeom prst="ellipse">
            <a:avLst/>
          </a:prstGeom>
          <a:solidFill>
            <a:srgbClr val="D21F2B"/>
          </a:solidFill>
          <a:ln w="19050">
            <a:solidFill>
              <a:srgbClr val="F6F3EE"/>
            </a:solidFill>
          </a:ln>
        </p:spPr>
        <p:txBody>
          <a:bodyPr wrap="square" lIns="0" tIns="0" rIns="0" bIns="0" anchor="ctr"/>
          <a:lstStyle/>
          <a:p>
            <a:pPr marL="0" indent="0" algn="ctr">
              <a:buNone/>
            </a:pPr>
            <a:r>
              <a:rPr lang="en-US" sz="1400" b="1" dirty="0">
                <a:solidFill>
                  <a:srgbClr val="F6F3EE"/>
                </a:solidFill>
                <a:latin typeface="Nunito Sans" pitchFamily="34" charset="0"/>
                <a:ea typeface="Nunito Sans" pitchFamily="34" charset="-122"/>
                <a:cs typeface="Nunito Sans" pitchFamily="34" charset="-120"/>
              </a:rPr>
              <a:t>6</a:t>
            </a:r>
          </a:p>
        </p:txBody>
      </p:sp>
      <p:sp>
        <p:nvSpPr>
          <p:cNvPr id="547" name="Legend 6 label"/>
          <p:cNvSpPr txBox="1"/>
          <p:nvPr/>
        </p:nvSpPr>
        <p:spPr>
          <a:xfrm>
            <a:off x="8430768" y="5097780"/>
            <a:ext cx="2944368" cy="27432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The helpers</a:t>
            </a:r>
          </a:p>
        </p:txBody>
      </p:sp>
      <p:sp>
        <p:nvSpPr>
          <p:cNvPr id="548" name="Legend 6 desc"/>
          <p:cNvSpPr txBox="1"/>
          <p:nvPr/>
        </p:nvSpPr>
        <p:spPr>
          <a:xfrm>
            <a:off x="8430768" y="5372100"/>
            <a:ext cx="2944368" cy="256032"/>
          </a:xfrm>
          <a:prstGeom prst="rect">
            <a:avLst/>
          </a:prstGeom>
          <a:noFill/>
          <a:ln/>
        </p:spPr>
        <p:txBody>
          <a:bodyPr wrap="square" lIns="0" tIns="0" rIns="0" bIns="0" rtlCol="0" anchor="t">
            <a:normAutofit/>
          </a:bodyPr>
          <a:lstStyle/>
          <a:p>
            <a:pPr marL="0" indent="0" algn="l">
              <a:buNone/>
            </a:pPr>
            <a:r>
              <a:rPr lang="en-US" sz="1300" dirty="0">
                <a:solidFill>
                  <a:srgbClr val="8F8A82"/>
                </a:solidFill>
                <a:latin typeface="Nunito Sans" pitchFamily="34" charset="0"/>
                <a:ea typeface="Nunito Sans" pitchFamily="34" charset="-122"/>
                <a:cs typeface="Nunito Sans" pitchFamily="34" charset="-120"/>
              </a:rPr>
              <a:t>Cameras watch it. Robots rebuild it.</a:t>
            </a:r>
          </a:p>
        </p:txBody>
      </p:sp>
      <p:sp>
        <p:nvSpPr>
          <p:cNvPr id="549" name="Bottom line"/>
          <p:cNvSpPr txBox="1"/>
          <p:nvPr/>
        </p:nvSpPr>
        <p:spPr>
          <a:xfrm>
            <a:off x="812902" y="5760720"/>
            <a:ext cx="10565892" cy="320040"/>
          </a:xfrm>
          <a:prstGeom prst="rect">
            <a:avLst/>
          </a:prstGeom>
          <a:noFill/>
          <a:ln/>
        </p:spPr>
        <p:txBody>
          <a:bodyPr wrap="square" lIns="0" tIns="0" rIns="0" bIns="0" rtlCol="0" anchor="t">
            <a:normAutofit/>
          </a:bodyPr>
          <a:lstStyle/>
          <a:p>
            <a:pPr marL="0" indent="0" algn="l">
              <a:buNone/>
            </a:pPr>
            <a:r>
              <a:rPr lang="en-US" sz="1600" b="1" dirty="0">
                <a:solidFill>
                  <a:srgbClr val="F6F3EE"/>
                </a:solidFill>
                <a:latin typeface="Nunito Sans" pitchFamily="34" charset="0"/>
                <a:ea typeface="Nunito Sans" pitchFamily="34" charset="-122"/>
                <a:cs typeface="Nunito Sans" pitchFamily="34" charset="-120"/>
              </a:rPr>
              <a:t>Every box is a decision an architect makes. </a:t>
            </a:r>
            <a:r>
              <a:rPr lang="en-US" sz="1600" dirty="0">
                <a:solidFill>
                  <a:srgbClr val="8F8A82"/>
                </a:solidFill>
                <a:latin typeface="Nunito Sans" pitchFamily="34" charset="0"/>
                <a:ea typeface="Nunito Sans" pitchFamily="34" charset="-122"/>
                <a:cs typeface="Nunito Sans" pitchFamily="34" charset="-120"/>
              </a:rPr>
              <a:t>Every arrow is a hallway I had to design.</a:t>
            </a:r>
          </a:p>
        </p:txBody>
      </p:sp>
    </p:spTree>
  </p:cSld>
  <p:clrMapOvr>
    <a:masterClrMapping/>
  </p:clrMapOvr>
</p:sld>
</file>

<file path=ppt/theme/theme1.xml><?xml version="1.0" encoding="utf-8"?>
<a:theme xmlns:a="http://schemas.openxmlformats.org/drawingml/2006/main" name="The Career You've Never Heard Of — Ed Willkie Badgers Career Day">
  <a:themeElements>
    <a:clrScheme name="The Career You've Never Heard Of — Ed Willkie Badgers Career Day">
      <a:dk1>
        <a:srgbClr val="161616"/>
      </a:dk1>
      <a:lt1>
        <a:srgbClr val="F6F3EE"/>
      </a:lt1>
      <a:dk2>
        <a:srgbClr val="4E4D4C"/>
      </a:dk2>
      <a:lt2>
        <a:srgbClr val="E0DDD8"/>
      </a:lt2>
      <a:accent1>
        <a:srgbClr val="D21F2B"/>
      </a:accent1>
      <a:accent2>
        <a:srgbClr val="B3161F"/>
      </a:accent2>
      <a:accent3>
        <a:srgbClr val="8F8A82"/>
      </a:accent3>
      <a:accent4>
        <a:srgbClr val="D9D5CE"/>
      </a:accent4>
      <a:accent5>
        <a:srgbClr val="4A4A4A"/>
      </a:accent5>
      <a:accent6>
        <a:srgbClr val="9AA0A6"/>
      </a:accent6>
      <a:hlink>
        <a:srgbClr val="0563C1"/>
      </a:hlink>
      <a:folHlink>
        <a:srgbClr val="954F72"/>
      </a:folHlink>
    </a:clrScheme>
    <a:fontScheme name="The Career You've Never Heard Of — Ed Willkie Badgers Career Day">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3552</Words>
  <Application>Microsoft Office PowerPoint</Application>
  <PresentationFormat>Widescreen</PresentationFormat>
  <Paragraphs>188</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Nunito Sans</vt:lpstr>
      <vt:lpstr>Oswald</vt:lpstr>
      <vt:lpstr>The Career You've Never Heard Of — Ed Willkie Badgers Career Day</vt:lpstr>
      <vt:lpstr>THE CAREER YOU'VE NEVER HEARD OF</vt:lpstr>
      <vt:lpstr>SIT DOWN IF YOU HAVE NEVER…</vt:lpstr>
      <vt:lpstr>WHAT YOU THINK I DO VS. WHAT I ACTUALLY DO</vt:lpstr>
      <vt:lpstr>AN ARCHITECT DRAWS THE PLAN BEFORE ANYONE BUILDS</vt:lpstr>
      <vt:lpstr>THE CLOUD IS NOT IN THE SKY</vt:lpstr>
      <vt:lpstr>AI LEARNS PATTERNS FROM EXAMPLES</vt:lpstr>
      <vt:lpstr>BE THE AI</vt:lpstr>
      <vt:lpstr>HOW AI LEARNS: EXAMPLES IN, PATTERNS OUT</vt:lpstr>
      <vt:lpstr>CAN THE AI PASS THE BADGER TEST?</vt:lpstr>
      <vt:lpstr>A DAY IN MY LIFE: FOUR THINGS, THEN REPEAT</vt:lpstr>
      <vt:lpstr>TRUST IT OR CHECK IT?</vt:lpstr>
      <vt:lpstr>THE FOUR BADGER RULES FOR AI</vt:lpstr>
      <vt:lpstr>YOUR PATH STARTS IN THIS BUILDING</vt:lpstr>
      <vt:lpstr>AN AI WROTE THIS. FIND THE 3 MISTAKES.</vt:lpstr>
      <vt:lpstr>PowerPoint Presentation</vt:lpstr>
      <vt:lpstr>ASK ME ANYTHING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Career You've Never Heard Of — Ed Willkie Badgers Career Day</dc:title>
  <dc:subject/>
  <dc:creator/>
  <cp:lastModifiedBy>Saul Patino</cp:lastModifiedBy>
  <cp:revision>1</cp:revision>
  <dcterms:created xsi:type="dcterms:W3CDTF">2026-10-17T03:57:01Z</dcterms:created>
  <dcterms:modified xsi:type="dcterms:W3CDTF">2026-10-17T10:56:54Z</dcterms:modified>
</cp:coreProperties>
</file>